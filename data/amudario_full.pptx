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35"/>
  </p:notesMasterIdLst>
  <p:sldIdLst>
    <p:sldId id="256" r:id="rId2"/>
    <p:sldId id="257" r:id="rId3"/>
    <p:sldId id="383" r:id="rId4"/>
    <p:sldId id="382" r:id="rId5"/>
    <p:sldId id="385" r:id="rId6"/>
    <p:sldId id="384" r:id="rId7"/>
    <p:sldId id="388" r:id="rId8"/>
    <p:sldId id="386" r:id="rId9"/>
    <p:sldId id="387" r:id="rId10"/>
    <p:sldId id="390" r:id="rId11"/>
    <p:sldId id="389" r:id="rId12"/>
    <p:sldId id="392" r:id="rId13"/>
    <p:sldId id="391" r:id="rId14"/>
    <p:sldId id="328" r:id="rId15"/>
    <p:sldId id="329" r:id="rId16"/>
    <p:sldId id="393" r:id="rId17"/>
    <p:sldId id="327" r:id="rId18"/>
    <p:sldId id="394" r:id="rId19"/>
    <p:sldId id="395" r:id="rId20"/>
    <p:sldId id="336" r:id="rId21"/>
    <p:sldId id="396" r:id="rId22"/>
    <p:sldId id="337" r:id="rId23"/>
    <p:sldId id="375" r:id="rId24"/>
    <p:sldId id="356" r:id="rId25"/>
    <p:sldId id="397" r:id="rId26"/>
    <p:sldId id="366" r:id="rId27"/>
    <p:sldId id="398" r:id="rId28"/>
    <p:sldId id="399" r:id="rId29"/>
    <p:sldId id="400" r:id="rId30"/>
    <p:sldId id="377" r:id="rId31"/>
    <p:sldId id="401" r:id="rId32"/>
    <p:sldId id="402" r:id="rId33"/>
    <p:sldId id="307" r:id="rId3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22" autoAdjust="0"/>
  </p:normalViewPr>
  <p:slideViewPr>
    <p:cSldViewPr>
      <p:cViewPr varScale="1">
        <p:scale>
          <a:sx n="87" d="100"/>
          <a:sy n="87" d="100"/>
        </p:scale>
        <p:origin x="42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65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A912E-0458-4B91-ABD3-AC67BA838ECF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F441B-BFD6-4C1E-82DA-2A91949E1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95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F441B-BFD6-4C1E-82DA-2A91949E1C5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165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44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83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080C-7E0C-45F9-B453-42161A2A5CE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47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080C-7E0C-45F9-B453-42161A2A5CE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482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080C-7E0C-45F9-B453-42161A2A5CE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478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080C-7E0C-45F9-B453-42161A2A5CE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17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8080C-7E0C-45F9-B453-42161A2A5CE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22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8080C-7E0C-45F9-B453-42161A2A5CE8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138680-18B3-59A6-4CEA-7ADB43A56280}"/>
              </a:ext>
            </a:extLst>
          </p:cNvPr>
          <p:cNvGrpSpPr/>
          <p:nvPr userDrawn="1"/>
        </p:nvGrpSpPr>
        <p:grpSpPr>
          <a:xfrm>
            <a:off x="5039288" y="6237310"/>
            <a:ext cx="2113426" cy="484177"/>
            <a:chOff x="250496" y="6074850"/>
            <a:chExt cx="2418360" cy="682552"/>
          </a:xfrm>
        </p:grpSpPr>
        <p:sp>
          <p:nvSpPr>
            <p:cNvPr id="10" name="Subtitle 2">
              <a:extLst>
                <a:ext uri="{FF2B5EF4-FFF2-40B4-BE49-F238E27FC236}">
                  <a16:creationId xmlns:a16="http://schemas.microsoft.com/office/drawing/2014/main" id="{629EB1D5-A347-2654-C386-0C581E3AE3F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0496" y="6475859"/>
              <a:ext cx="2418360" cy="28154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55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uz-Cyrl-UZ" sz="1400" dirty="0">
                  <a:solidFill>
                    <a:schemeClr val="bg1">
                      <a:lumMod val="50000"/>
                    </a:schemeClr>
                  </a:solidFill>
                </a:rPr>
                <a:t>"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Amudario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 Research"</a:t>
              </a:r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LLC</a:t>
              </a:r>
              <a:endParaRPr lang="ru-RU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1" name="Picture 2" descr="Logo">
              <a:extLst>
                <a:ext uri="{FF2B5EF4-FFF2-40B4-BE49-F238E27FC236}">
                  <a16:creationId xmlns:a16="http://schemas.microsoft.com/office/drawing/2014/main" id="{78925755-01FF-CE9E-47C3-B251619C687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" y="6074850"/>
              <a:ext cx="1928753" cy="401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5477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8" r:id="rId3"/>
    <p:sldLayoutId id="2147483709" r:id="rId4"/>
    <p:sldLayoutId id="2147483710" r:id="rId5"/>
    <p:sldLayoutId id="2147483711" r:id="rId6"/>
  </p:sldLayoutIdLst>
  <p:txStyles>
    <p:titleStyle>
      <a:lvl1pPr algn="ctr" defTabSz="914423" rtl="0" eaLnBrk="1" latinLnBrk="0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8" indent="-342908" algn="l" defTabSz="91442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defTabSz="914423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mudar.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://www.amudar.io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air.tashkent.uz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rKmH4DhuYk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rKmH4DhuYk?feature=oembed" TargetMode="External"/><Relationship Id="rId4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QNSkBgzp_A?feature=oembed" TargetMode="External"/><Relationship Id="rId4" Type="http://schemas.openxmlformats.org/officeDocument/2006/relationships/hyperlink" Target="https://youtu.be/LQNSkBgzp_A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ZAHzCaoIX8?feature=oembed" TargetMode="External"/><Relationship Id="rId4" Type="http://schemas.openxmlformats.org/officeDocument/2006/relationships/hyperlink" Target="https://youtu.be/5ZAHzCaoIX8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YSbcg0IgA8?feature=oembed" TargetMode="External"/><Relationship Id="rId4" Type="http://schemas.openxmlformats.org/officeDocument/2006/relationships/hyperlink" Target="https://youtu.be/SYSbcg0IgA8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IlZHK1kdCY?feature=oembed" TargetMode="External"/><Relationship Id="rId4" Type="http://schemas.openxmlformats.org/officeDocument/2006/relationships/hyperlink" Target="https://youtu.be/xIlZHK1kdCY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info@amudar.io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560" y="2492900"/>
            <a:ext cx="8420100" cy="1470025"/>
          </a:xfrm>
        </p:spPr>
        <p:txBody>
          <a:bodyPr>
            <a:noAutofit/>
          </a:bodyPr>
          <a:lstStyle/>
          <a:p>
            <a:r>
              <a:rPr lang="en-US" sz="4000" dirty="0"/>
              <a:t>Overview of Amudar.IO P</a:t>
            </a:r>
            <a:r>
              <a:rPr lang="en-GB" sz="4000" dirty="0" err="1"/>
              <a:t>rojects</a:t>
            </a:r>
            <a:endParaRPr lang="en-GB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8976321" y="5157192"/>
            <a:ext cx="2808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Contact details</a:t>
            </a:r>
            <a:r>
              <a:rPr lang="ru-RU" b="1" dirty="0"/>
              <a:t>:</a:t>
            </a:r>
            <a:r>
              <a:rPr lang="ru-RU" dirty="0"/>
              <a:t>  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+</a:t>
            </a:r>
            <a:r>
              <a:rPr lang="en-US" dirty="0"/>
              <a:t>998-97-3441136</a:t>
            </a:r>
            <a:endParaRPr lang="uz-Cyrl-UZ" dirty="0"/>
          </a:p>
          <a:p>
            <a:pPr marL="285757" indent="-285757">
              <a:buFont typeface="Arial" panose="020B0604020202020204" pitchFamily="34" charset="0"/>
              <a:buChar char="•"/>
            </a:pPr>
            <a:r>
              <a:rPr lang="en-GB" dirty="0"/>
              <a:t>Email: </a:t>
            </a:r>
            <a:r>
              <a:rPr lang="en-GB" dirty="0">
                <a:hlinkClick r:id="rId3"/>
              </a:rPr>
              <a:t>info@amudar.io</a:t>
            </a:r>
            <a:endParaRPr lang="en-GB" dirty="0"/>
          </a:p>
          <a:p>
            <a:pPr marL="285757" indent="-285757">
              <a:buFont typeface="Arial" panose="020B0604020202020204" pitchFamily="34" charset="0"/>
              <a:buChar char="•"/>
            </a:pPr>
            <a:r>
              <a:rPr lang="en-GB" dirty="0"/>
              <a:t>Web: </a:t>
            </a:r>
            <a:r>
              <a:rPr lang="en-GB" dirty="0">
                <a:hlinkClick r:id="rId4"/>
              </a:rPr>
              <a:t>amudar.io</a:t>
            </a:r>
            <a:r>
              <a:rPr lang="en-GB" dirty="0"/>
              <a:t> </a:t>
            </a:r>
            <a:endParaRPr lang="uz-Cyrl-UZ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2F4C9E-1359-CAA4-03B7-23E27DD496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797464" y="404664"/>
            <a:ext cx="4597072" cy="1152125"/>
            <a:chOff x="250496" y="6151309"/>
            <a:chExt cx="2418360" cy="606093"/>
          </a:xfrm>
        </p:grpSpPr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8869B6B7-20CE-ADEB-0995-45FD5412DD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0496" y="6475859"/>
              <a:ext cx="2418360" cy="28154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“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Amudario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 Research” LLC</a:t>
              </a:r>
              <a:endParaRPr lang="ru-RU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8" name="Picture 2" descr="Logo">
              <a:extLst>
                <a:ext uri="{FF2B5EF4-FFF2-40B4-BE49-F238E27FC236}">
                  <a16:creationId xmlns:a16="http://schemas.microsoft.com/office/drawing/2014/main" id="{151B7788-7E1A-9A5D-E689-CCCA6749140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" y="6151309"/>
              <a:ext cx="1928753" cy="324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051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0255B-43DB-EEB7-544B-FEC0B3650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company – Amudar.IO Research</a:t>
            </a:r>
          </a:p>
          <a:p>
            <a:r>
              <a:rPr lang="en-US" dirty="0"/>
              <a:t>Our solutions in ecology</a:t>
            </a:r>
          </a:p>
          <a:p>
            <a:r>
              <a:rPr lang="en-US" dirty="0"/>
              <a:t>Use of weather stations in agriculture</a:t>
            </a:r>
          </a:p>
          <a:p>
            <a:pPr lvl="1"/>
            <a:r>
              <a:rPr lang="en-US" dirty="0"/>
              <a:t>Irrigation and land management</a:t>
            </a:r>
          </a:p>
          <a:p>
            <a:pPr lvl="1"/>
            <a:r>
              <a:rPr lang="en-US" dirty="0"/>
              <a:t>Plant protection from pests and diseases</a:t>
            </a:r>
          </a:p>
          <a:p>
            <a:pPr lvl="1"/>
            <a:r>
              <a:rPr lang="en-US" dirty="0" err="1"/>
              <a:t>Meteograms</a:t>
            </a:r>
            <a:r>
              <a:rPr lang="en-US" dirty="0"/>
              <a:t> for tillage, spraying and sowing</a:t>
            </a:r>
          </a:p>
          <a:p>
            <a:pPr lvl="1"/>
            <a:r>
              <a:rPr lang="en-US" dirty="0"/>
              <a:t>Weather forecast for agricultural needs</a:t>
            </a:r>
          </a:p>
          <a:p>
            <a:pPr lvl="1"/>
            <a:r>
              <a:rPr lang="en-US" dirty="0"/>
              <a:t>Risk assessment based on historical records</a:t>
            </a:r>
            <a:endParaRPr lang="uz-Cyrl-U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052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5A0E26-F008-F6F2-B7C3-D820FEBC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ts val="8399"/>
              </a:lnSpc>
            </a:pPr>
            <a:r>
              <a:rPr lang="en-US" sz="4400" dirty="0">
                <a:solidFill>
                  <a:srgbClr val="2C2C2C"/>
                </a:solidFill>
              </a:rPr>
              <a:t>What is Amudar.IO?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E6A941-7C71-776E-D965-B273D62F19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2C2C2C"/>
                </a:solidFill>
              </a:rPr>
              <a:t>Amudar.IO was founded by </a:t>
            </a:r>
            <a:r>
              <a:rPr lang="en-US" b="1" dirty="0">
                <a:solidFill>
                  <a:srgbClr val="2C2C2C"/>
                </a:solidFill>
              </a:rPr>
              <a:t>three professors from Inha University in 2020</a:t>
            </a:r>
            <a:r>
              <a:rPr lang="en-US" dirty="0">
                <a:solidFill>
                  <a:srgbClr val="2C2C2C"/>
                </a:solidFill>
              </a:rPr>
              <a:t> to help farmers in fighting pests using weather stations</a:t>
            </a:r>
          </a:p>
          <a:p>
            <a:r>
              <a:rPr lang="en-US" dirty="0"/>
              <a:t>Produced solutions in </a:t>
            </a:r>
            <a:r>
              <a:rPr lang="en-US" dirty="0" err="1"/>
              <a:t>AgriTech</a:t>
            </a:r>
            <a:r>
              <a:rPr lang="en-US" dirty="0"/>
              <a:t> and </a:t>
            </a:r>
            <a:r>
              <a:rPr lang="en-US" dirty="0" err="1"/>
              <a:t>EcoTech</a:t>
            </a:r>
            <a:r>
              <a:rPr lang="en-US" dirty="0"/>
              <a:t>:</a:t>
            </a:r>
            <a:endParaRPr lang="en-US" b="1" dirty="0"/>
          </a:p>
          <a:p>
            <a:pPr lvl="1"/>
            <a:r>
              <a:rPr lang="en-US" b="1" dirty="0"/>
              <a:t>Oxus-WS</a:t>
            </a:r>
            <a:r>
              <a:rPr lang="en-US" dirty="0"/>
              <a:t> -</a:t>
            </a:r>
            <a:r>
              <a:rPr lang="en-GB" dirty="0"/>
              <a:t> agrometeorological stations</a:t>
            </a:r>
            <a:endParaRPr lang="en-US" dirty="0"/>
          </a:p>
          <a:p>
            <a:pPr lvl="1"/>
            <a:r>
              <a:rPr lang="en-US" b="1" dirty="0" err="1"/>
              <a:t>JayhunTrap</a:t>
            </a:r>
            <a:r>
              <a:rPr lang="en-US" dirty="0"/>
              <a:t> – smart pheromone trap</a:t>
            </a:r>
          </a:p>
          <a:p>
            <a:pPr lvl="1"/>
            <a:r>
              <a:rPr lang="en-US" b="1" dirty="0" err="1"/>
              <a:t>GozanLink</a:t>
            </a:r>
            <a:r>
              <a:rPr lang="en-US" dirty="0"/>
              <a:t> – greenhouse monitoring system</a:t>
            </a:r>
          </a:p>
          <a:p>
            <a:pPr lvl="1"/>
            <a:r>
              <a:rPr lang="en-US" b="1" dirty="0" err="1"/>
              <a:t>AirSense</a:t>
            </a:r>
            <a:r>
              <a:rPr lang="en-US" b="1" dirty="0"/>
              <a:t> </a:t>
            </a:r>
            <a:r>
              <a:rPr lang="en-US" dirty="0"/>
              <a:t> - air quality monitoring system</a:t>
            </a:r>
          </a:p>
          <a:p>
            <a:endParaRPr lang="en-GB" dirty="0"/>
          </a:p>
        </p:txBody>
      </p:sp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714BC35F-3AFA-0334-2BF7-329458C4A0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385" y="2132856"/>
            <a:ext cx="5384800" cy="3029847"/>
          </a:xfrm>
        </p:spPr>
      </p:pic>
    </p:spTree>
    <p:extLst>
      <p:ext uri="{BB962C8B-B14F-4D97-AF65-F5344CB8AC3E}">
        <p14:creationId xmlns:p14="http://schemas.microsoft.com/office/powerpoint/2010/main" val="216624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72FA-7DC0-F7C6-2227-3CCD8026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110+ weather stations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/>
              <a:t>across Uzbekistan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E8A5C08-3DFB-8471-4DE3-C383CCFF10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Solar powered, autonomous stations deployed</a:t>
            </a:r>
            <a:r>
              <a:rPr lang="en-US" dirty="0"/>
              <a:t> nationwide since 2021 - largest agricultural monitoring network in Uzbekistan</a:t>
            </a:r>
          </a:p>
          <a:p>
            <a:r>
              <a:rPr lang="en-US" b="1" dirty="0"/>
              <a:t>Real-time monitoring</a:t>
            </a:r>
            <a:r>
              <a:rPr lang="en-US" dirty="0"/>
              <a:t> of 8+ parameters with AI-powered pest/disease forecasting</a:t>
            </a:r>
          </a:p>
          <a:p>
            <a:r>
              <a:rPr lang="en-US" b="1" dirty="0"/>
              <a:t>Training programs</a:t>
            </a:r>
            <a:r>
              <a:rPr lang="en-US" dirty="0"/>
              <a:t> provided to 100+ farmers and agricultural specialists</a:t>
            </a:r>
            <a:endParaRPr lang="en-GB" dirty="0"/>
          </a:p>
          <a:p>
            <a:r>
              <a:rPr lang="en-US" b="1" dirty="0"/>
              <a:t>Crop loss prevention</a:t>
            </a:r>
            <a:r>
              <a:rPr lang="en-US" dirty="0"/>
              <a:t> and reduction in pesticide use for farmers</a:t>
            </a:r>
          </a:p>
          <a:p>
            <a:r>
              <a:rPr lang="en-US" b="1" dirty="0"/>
              <a:t>Water conservation</a:t>
            </a:r>
            <a:r>
              <a:rPr lang="en-US" dirty="0"/>
              <a:t> up to 30% irrigation water savings through precision scheduling</a:t>
            </a:r>
          </a:p>
        </p:txBody>
      </p:sp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880886FA-028E-3C38-B16C-775568F652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2189394"/>
            <a:ext cx="5384800" cy="3347575"/>
          </a:xfrm>
        </p:spPr>
      </p:pic>
    </p:spTree>
    <p:extLst>
      <p:ext uri="{BB962C8B-B14F-4D97-AF65-F5344CB8AC3E}">
        <p14:creationId xmlns:p14="http://schemas.microsoft.com/office/powerpoint/2010/main" val="215213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C33F33C-7E9A-67A0-C970-9B438A5E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26" y="3530518"/>
            <a:ext cx="1765254" cy="904154"/>
          </a:xfrm>
          <a:prstGeom prst="rect">
            <a:avLst/>
          </a:prstGeom>
        </p:spPr>
      </p:pic>
      <p:pic>
        <p:nvPicPr>
          <p:cNvPr id="2056" name="Picture 8" descr="ICARDA - YouTube">
            <a:extLst>
              <a:ext uri="{FF2B5EF4-FFF2-40B4-BE49-F238E27FC236}">
                <a16:creationId xmlns:a16="http://schemas.microsoft.com/office/drawing/2014/main" id="{666892D1-4069-1BD5-6FE6-FA6CEA7A6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3921394"/>
            <a:ext cx="1510564" cy="151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F6D2C-E977-AEDD-0927-159BF589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2"/>
                </a:solidFill>
              </a:rPr>
              <a:t>15+ successful</a:t>
            </a:r>
            <a:r>
              <a:rPr lang="en-GB" dirty="0"/>
              <a:t> joint projects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18962-68AA-3563-AFC9-2EC2FAB48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24823"/>
            <a:ext cx="5384800" cy="4708531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International Development Partners:</a:t>
            </a:r>
            <a:endParaRPr lang="en-GB" dirty="0"/>
          </a:p>
          <a:p>
            <a:pPr lvl="1"/>
            <a:r>
              <a:rPr lang="en-GB" b="1" dirty="0"/>
              <a:t>UNDP Projects</a:t>
            </a:r>
            <a:r>
              <a:rPr lang="en-GB" dirty="0"/>
              <a:t> - 55 agrometeorological stations + 12 smart pheromone traps deployed across Fergana Valley for climate resilience</a:t>
            </a:r>
          </a:p>
          <a:p>
            <a:pPr lvl="1"/>
            <a:r>
              <a:rPr lang="en-GB" b="1" dirty="0"/>
              <a:t>IWMI Collaboration</a:t>
            </a:r>
            <a:r>
              <a:rPr lang="en-GB" dirty="0"/>
              <a:t> - 3 stations installed in </a:t>
            </a:r>
            <a:r>
              <a:rPr lang="en-GB" dirty="0" err="1"/>
              <a:t>Khorezm</a:t>
            </a:r>
            <a:r>
              <a:rPr lang="en-GB" dirty="0"/>
              <a:t>, </a:t>
            </a:r>
            <a:r>
              <a:rPr lang="en-GB" dirty="0" err="1"/>
              <a:t>Karakalpakstan</a:t>
            </a:r>
            <a:r>
              <a:rPr lang="en-GB" dirty="0"/>
              <a:t>, and Kazakhstan for transboundary water management</a:t>
            </a:r>
          </a:p>
          <a:p>
            <a:pPr lvl="1"/>
            <a:r>
              <a:rPr lang="en-GB" b="1" dirty="0"/>
              <a:t>IFAD Partnership</a:t>
            </a:r>
            <a:r>
              <a:rPr lang="en-GB" dirty="0"/>
              <a:t> - 3 stations deployed in Andijan, Namangan, and Fergana for modern irrigation water management on 300 hectares</a:t>
            </a:r>
          </a:p>
          <a:p>
            <a:pPr lvl="1"/>
            <a:r>
              <a:rPr lang="en-GB" b="1" dirty="0"/>
              <a:t>ICARDA Project</a:t>
            </a:r>
            <a:r>
              <a:rPr lang="en-GB" dirty="0"/>
              <a:t> - 4 soil monitoring stations with 48 sensors each for comprehensive soil analysis and research</a:t>
            </a:r>
          </a:p>
          <a:p>
            <a:r>
              <a:rPr lang="en-GB" b="1" dirty="0"/>
              <a:t>Academic and Community Partners:</a:t>
            </a:r>
          </a:p>
          <a:p>
            <a:pPr lvl="1"/>
            <a:r>
              <a:rPr lang="en-GB" b="1" dirty="0"/>
              <a:t>TIIAME University - </a:t>
            </a:r>
            <a:r>
              <a:rPr lang="en-GB" dirty="0"/>
              <a:t>3 stations for soil monitoring in Tashkent, </a:t>
            </a:r>
            <a:r>
              <a:rPr lang="en-GB" dirty="0" err="1"/>
              <a:t>Khorezm</a:t>
            </a:r>
            <a:r>
              <a:rPr lang="en-GB" dirty="0"/>
              <a:t>, Bukhara, </a:t>
            </a:r>
            <a:r>
              <a:rPr lang="en-GB" dirty="0" err="1"/>
              <a:t>Karakalpakstan</a:t>
            </a:r>
            <a:endParaRPr lang="en-GB" dirty="0"/>
          </a:p>
          <a:p>
            <a:pPr lvl="1"/>
            <a:r>
              <a:rPr lang="en-GB" b="1" dirty="0"/>
              <a:t>Irrigators School – </a:t>
            </a:r>
            <a:r>
              <a:rPr lang="en-US" dirty="0"/>
              <a:t>12 stations with farmer training programs for sustainable water management practices</a:t>
            </a:r>
          </a:p>
          <a:p>
            <a:pPr lvl="1"/>
            <a:r>
              <a:rPr lang="en-US" b="1" dirty="0"/>
              <a:t>New Uzbekistan University</a:t>
            </a:r>
            <a:r>
              <a:rPr lang="en-US" dirty="0"/>
              <a:t> – A professional weather station for promoting climate change research</a:t>
            </a:r>
          </a:p>
          <a:p>
            <a:pPr lvl="1"/>
            <a:r>
              <a:rPr lang="en-US" b="1" dirty="0"/>
              <a:t>Samarkand Marathon - </a:t>
            </a:r>
            <a:r>
              <a:rPr lang="en-US" dirty="0"/>
              <a:t>Portable air quality monitoring for sports events across multiple cities</a:t>
            </a:r>
            <a:endParaRPr lang="en-GB" dirty="0"/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CF4E25-5D33-C05B-1689-5DD4AFB98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8" y="1655355"/>
            <a:ext cx="1092617" cy="1092617"/>
          </a:xfrm>
          <a:prstGeom prst="rect">
            <a:avLst/>
          </a:prstGeom>
        </p:spPr>
      </p:pic>
      <p:pic>
        <p:nvPicPr>
          <p:cNvPr id="2050" name="Picture 2" descr="IFAD – Donor Profile – RP on Track.">
            <a:extLst>
              <a:ext uri="{FF2B5EF4-FFF2-40B4-BE49-F238E27FC236}">
                <a16:creationId xmlns:a16="http://schemas.microsoft.com/office/drawing/2014/main" id="{5F5BF56E-835D-6937-E921-5532C8F45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175" y="2669506"/>
            <a:ext cx="2095330" cy="106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4" descr="IWMI - International Water Management Institute">
            <a:extLst>
              <a:ext uri="{FF2B5EF4-FFF2-40B4-BE49-F238E27FC236}">
                <a16:creationId xmlns:a16="http://schemas.microsoft.com/office/drawing/2014/main" id="{DC9D231F-9D19-61CE-0F65-6B3884BBA4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4" name="Picture 6" descr="IWMI - International Water Management Institute">
            <a:extLst>
              <a:ext uri="{FF2B5EF4-FFF2-40B4-BE49-F238E27FC236}">
                <a16:creationId xmlns:a16="http://schemas.microsoft.com/office/drawing/2014/main" id="{55386FE0-9224-4B8F-CFCD-6A845BA6C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562" y="1605571"/>
            <a:ext cx="1915730" cy="106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A3B67D-40EE-0B86-9445-DACD538548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8227" y="2985688"/>
            <a:ext cx="2894112" cy="4371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C6A0B3-7699-0D74-9AD3-7A57C567FF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2817" y="1630163"/>
            <a:ext cx="1134533" cy="1143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C9FC72-1CB5-E30E-3DA9-00C6182E7E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3525" y="3336351"/>
            <a:ext cx="1442232" cy="1442232"/>
          </a:xfrm>
          <a:prstGeom prst="rect">
            <a:avLst/>
          </a:prstGeom>
        </p:spPr>
      </p:pic>
      <p:pic>
        <p:nvPicPr>
          <p:cNvPr id="2058" name="Picture 10" descr="Agency of IFAS">
            <a:extLst>
              <a:ext uri="{FF2B5EF4-FFF2-40B4-BE49-F238E27FC236}">
                <a16:creationId xmlns:a16="http://schemas.microsoft.com/office/drawing/2014/main" id="{D843FD0F-1FB6-EEDB-9932-A649172F3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538" y="5007894"/>
            <a:ext cx="1231734" cy="123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utoShape 12" descr="logo">
            <a:extLst>
              <a:ext uri="{FF2B5EF4-FFF2-40B4-BE49-F238E27FC236}">
                <a16:creationId xmlns:a16="http://schemas.microsoft.com/office/drawing/2014/main" id="{BECB9AAD-F9A3-4546-BC89-1E1BA0AFB7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4B17499-5063-6516-3C89-D5FB8F20AE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1940" y="5290374"/>
            <a:ext cx="1562100" cy="952500"/>
          </a:xfrm>
          <a:prstGeom prst="rect">
            <a:avLst/>
          </a:prstGeom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B86EC878-4D53-B72D-9CDC-498DBBFC9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35" y="5293757"/>
            <a:ext cx="744368" cy="83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CGIAR - Wikipedia">
            <a:extLst>
              <a:ext uri="{FF2B5EF4-FFF2-40B4-BE49-F238E27FC236}">
                <a16:creationId xmlns:a16="http://schemas.microsoft.com/office/drawing/2014/main" id="{6023A4B3-F942-9DBD-E6FC-0A602AD73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929" y="5157192"/>
            <a:ext cx="744369" cy="87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98B74D4-A46C-ED53-6108-DF86083CCE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2264" y="3630538"/>
            <a:ext cx="1085850" cy="5905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880C55-0BBF-71DB-BD5C-AA24339B2A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659" y="4478443"/>
            <a:ext cx="1374312" cy="74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6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G_2250.jpeg" descr="IMG_2250.jpeg">
            <a:extLst>
              <a:ext uri="{FF2B5EF4-FFF2-40B4-BE49-F238E27FC236}">
                <a16:creationId xmlns:a16="http://schemas.microsoft.com/office/drawing/2014/main" id="{5471347B-A010-488C-429D-11F14369A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3" r="7399"/>
          <a:stretch>
            <a:fillRect/>
          </a:stretch>
        </p:blipFill>
        <p:spPr>
          <a:xfrm>
            <a:off x="9146386" y="3960449"/>
            <a:ext cx="2349304" cy="2349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33D8DF-E02B-087F-F4DB-D18F5AE4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2"/>
                </a:solidFill>
              </a:rPr>
              <a:t>Designed and serviced</a:t>
            </a:r>
            <a:r>
              <a:rPr lang="en-GB" dirty="0"/>
              <a:t> in Uzbekistan</a:t>
            </a:r>
          </a:p>
        </p:txBody>
      </p:sp>
      <p:pic>
        <p:nvPicPr>
          <p:cNvPr id="6" name="IMG_3445.jpeg" descr="IMG_3445.jpeg">
            <a:extLst>
              <a:ext uri="{FF2B5EF4-FFF2-40B4-BE49-F238E27FC236}">
                <a16:creationId xmlns:a16="http://schemas.microsoft.com/office/drawing/2014/main" id="{908BEAC3-4ED6-AD8A-B60E-5DC470739E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910" t="20" r="16053" b="37703"/>
          <a:stretch>
            <a:fillRect/>
          </a:stretch>
        </p:blipFill>
        <p:spPr>
          <a:xfrm>
            <a:off x="6672064" y="1513885"/>
            <a:ext cx="2349329" cy="2349301"/>
          </a:xfrm>
          <a:prstGeom prst="rect">
            <a:avLst/>
          </a:prstGeom>
          <a:effectLst>
            <a:outerShdw blurRad="762000" dist="254000" dir="18900000" rotWithShape="0">
              <a:srgbClr val="000000">
                <a:alpha val="25000"/>
              </a:srgbClr>
            </a:outerShdw>
          </a:effectLst>
        </p:spPr>
      </p:pic>
      <p:pic>
        <p:nvPicPr>
          <p:cNvPr id="7" name="IMG_0995.jpeg" descr="IMG_0995.jpeg">
            <a:extLst>
              <a:ext uri="{FF2B5EF4-FFF2-40B4-BE49-F238E27FC236}">
                <a16:creationId xmlns:a16="http://schemas.microsoft.com/office/drawing/2014/main" id="{95B586BA-9E31-E78D-3821-566AE16671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42" t="3716" r="29931" b="11582"/>
          <a:stretch>
            <a:fillRect/>
          </a:stretch>
        </p:blipFill>
        <p:spPr>
          <a:xfrm>
            <a:off x="9146386" y="1513885"/>
            <a:ext cx="2349304" cy="2349302"/>
          </a:xfrm>
          <a:prstGeom prst="rect">
            <a:avLst/>
          </a:prstGeom>
        </p:spPr>
      </p:pic>
      <p:sp>
        <p:nvSpPr>
          <p:cNvPr id="9" name="AutoShape 2" descr="gallery-image">
            <a:extLst>
              <a:ext uri="{FF2B5EF4-FFF2-40B4-BE49-F238E27FC236}">
                <a16:creationId xmlns:a16="http://schemas.microsoft.com/office/drawing/2014/main" id="{1CEB7087-F4FE-95B5-FCE1-81ED20523B4D}"/>
              </a:ext>
            </a:extLst>
          </p:cNvPr>
          <p:cNvSpPr>
            <a:spLocks noGrp="1" noChangeAspect="1" noChangeArrowheads="1"/>
          </p:cNvSpPr>
          <p:nvPr>
            <p:ph sz="half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r>
              <a:rPr lang="en-US" b="1" dirty="0"/>
              <a:t>50% cost reduction</a:t>
            </a:r>
            <a:r>
              <a:rPr lang="en-US" dirty="0"/>
              <a:t> compared to imported alternatives - from $2,300 to $1,300 per station</a:t>
            </a:r>
          </a:p>
          <a:p>
            <a:r>
              <a:rPr lang="en-GB" b="1" dirty="0"/>
              <a:t>24/7 local technical support</a:t>
            </a:r>
            <a:r>
              <a:rPr lang="en-GB" dirty="0"/>
              <a:t> - immediate response and technical maintenance</a:t>
            </a:r>
          </a:p>
          <a:p>
            <a:r>
              <a:rPr lang="en-US" b="1" dirty="0"/>
              <a:t>Local pest database</a:t>
            </a:r>
            <a:r>
              <a:rPr lang="en-US" dirty="0"/>
              <a:t> - 30+ diseases and pests specific to Uzbekistan agriculture</a:t>
            </a:r>
          </a:p>
          <a:p>
            <a:r>
              <a:rPr lang="en-US" b="1" dirty="0"/>
              <a:t>Uzbek language interface</a:t>
            </a:r>
            <a:r>
              <a:rPr lang="en-US" dirty="0"/>
              <a:t> - accessible to local farmers without language barriers</a:t>
            </a:r>
          </a:p>
          <a:p>
            <a:r>
              <a:rPr lang="en-US" b="1" dirty="0"/>
              <a:t>Local job creation</a:t>
            </a:r>
            <a:r>
              <a:rPr lang="en-US" dirty="0"/>
              <a:t> - 8+ skilled positions in engineering, programming, and agronomy enabling technology transfer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A8CC5D-77F3-1EFE-BEB9-5659FB5CC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80" y="4005064"/>
            <a:ext cx="1943236" cy="216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2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dvAuto="0"/>
      <p:bldP spid="6" grpId="0" animBg="1" advAuto="0"/>
      <p:bldP spid="7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2DC6-8234-E46A-0C87-A3EA7DB4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2"/>
                </a:solidFill>
              </a:rPr>
              <a:t>Winner</a:t>
            </a:r>
            <a:r>
              <a:rPr lang="en-GB" dirty="0"/>
              <a:t> of CGIAR’s AgriTech4Uzb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AD45-134C-20DA-D229-E4F65FD6CE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Selected as winner from </a:t>
            </a:r>
            <a:r>
              <a:rPr lang="en-US" b="1" dirty="0"/>
              <a:t>571 international applications spanning 78 countries</a:t>
            </a:r>
            <a:r>
              <a:rPr lang="en-US" dirty="0"/>
              <a:t> competing for agricultural innovation in Central Asia</a:t>
            </a:r>
          </a:p>
          <a:p>
            <a:r>
              <a:rPr lang="en-US" b="1" dirty="0"/>
              <a:t>$15K equity-free grant</a:t>
            </a:r>
            <a:r>
              <a:rPr lang="en-US" dirty="0"/>
              <a:t> - Awarded top prize for demonstrating sustainable business model, scaling plan, and strong connection with CGIAR science</a:t>
            </a:r>
          </a:p>
          <a:p>
            <a:r>
              <a:rPr lang="en-US" dirty="0"/>
              <a:t>Advanced through </a:t>
            </a:r>
            <a:r>
              <a:rPr lang="en-US" b="1" dirty="0"/>
              <a:t>3-month acceleration</a:t>
            </a:r>
            <a:r>
              <a:rPr lang="en-US" dirty="0"/>
              <a:t> program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66086C-1F62-4908-C01D-825BF203C4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2764" y="1600200"/>
            <a:ext cx="3394472" cy="4525963"/>
          </a:xfrm>
        </p:spPr>
      </p:pic>
    </p:spTree>
    <p:extLst>
      <p:ext uri="{BB962C8B-B14F-4D97-AF65-F5344CB8AC3E}">
        <p14:creationId xmlns:p14="http://schemas.microsoft.com/office/powerpoint/2010/main" val="443174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730B-7094-C75B-4DE0-218C09CF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10 air quality monitoring stations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on Air Tashkent Portal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5F4F-98E5-BDFE-23EB-B97761D597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hlinkClick r:id="rId2" action="ppaction://hlinkfile"/>
              </a:rPr>
              <a:t>air.tashkent.uz</a:t>
            </a:r>
            <a:r>
              <a:rPr lang="en-US" dirty="0"/>
              <a:t> launched in 2022 by Tashkent Digital Development department providing real-time air quality monitoring for all citizens</a:t>
            </a:r>
          </a:p>
          <a:p>
            <a:r>
              <a:rPr lang="en-US" dirty="0"/>
              <a:t>It tracks </a:t>
            </a:r>
            <a:r>
              <a:rPr lang="en-US" b="1" dirty="0"/>
              <a:t>PM1, PM2.5, PM10, CO2, meteorological data</a:t>
            </a:r>
            <a:r>
              <a:rPr lang="en-US" dirty="0"/>
              <a:t>, plus registered fires and heating center locations affecting air quality</a:t>
            </a:r>
          </a:p>
          <a:p>
            <a:r>
              <a:rPr lang="en-US" dirty="0"/>
              <a:t>Continuously maintained by Amudar.IO for </a:t>
            </a:r>
            <a:r>
              <a:rPr lang="en-US" b="1" dirty="0"/>
              <a:t>over 3 years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685225-B137-1521-0A51-DA67835178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5816" y="2780928"/>
            <a:ext cx="5384800" cy="225363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F79850-4712-0F99-4456-2A8FC1A2AD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526"/>
          <a:stretch>
            <a:fillRect/>
          </a:stretch>
        </p:blipFill>
        <p:spPr>
          <a:xfrm>
            <a:off x="6207001" y="1600206"/>
            <a:ext cx="5443014" cy="1143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4266AA-14E9-2AC3-59A5-513DDFFFB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032" y="5034566"/>
            <a:ext cx="5326584" cy="141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1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DA63-09DC-0106-37A0-2F622A2C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2"/>
                </a:solidFill>
              </a:rPr>
              <a:t>AirSense</a:t>
            </a:r>
            <a:r>
              <a:rPr lang="en-GB" dirty="0"/>
              <a:t> – air quality monitoring station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338C5AC-EF39-5AE0-A403-7E3F6BEB4CA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209" y="1600200"/>
            <a:ext cx="3947582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FBA3D351-2C97-C3E3-D539-BBA0F371F2C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07" y="1600200"/>
            <a:ext cx="452338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7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0FD8-4B17-225E-E5A2-190488D8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Coal-burning greenhouses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are major air pollutants around Tashkent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17B8F-C340-A126-61BE-81B3CB4921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631 greenhouses</a:t>
            </a:r>
            <a:r>
              <a:rPr lang="en-US" dirty="0"/>
              <a:t> operating on </a:t>
            </a:r>
            <a:r>
              <a:rPr lang="en-US" b="1" dirty="0"/>
              <a:t>1,314 hectares around Tashkent</a:t>
            </a:r>
            <a:r>
              <a:rPr lang="en-US" dirty="0"/>
              <a:t>, with 60% using coal as primary heating source, creating a "</a:t>
            </a:r>
            <a:r>
              <a:rPr lang="en-US" b="1" dirty="0"/>
              <a:t>gray ring</a:t>
            </a:r>
            <a:r>
              <a:rPr lang="en-US" dirty="0"/>
              <a:t>" instead of "green ring“</a:t>
            </a:r>
          </a:p>
          <a:p>
            <a:r>
              <a:rPr lang="en-US" dirty="0"/>
              <a:t>Greenhouse numbers </a:t>
            </a:r>
            <a:r>
              <a:rPr lang="en-US" b="1" dirty="0"/>
              <a:t>increased 2.5x in past 5 years</a:t>
            </a:r>
            <a:r>
              <a:rPr lang="en-US" dirty="0"/>
              <a:t> while coal consumption rose 22% </a:t>
            </a:r>
          </a:p>
          <a:p>
            <a:pPr lvl="1"/>
            <a:r>
              <a:rPr lang="en-US" dirty="0"/>
              <a:t>from 6.8 million tons in 2018 </a:t>
            </a:r>
          </a:p>
          <a:p>
            <a:pPr lvl="1"/>
            <a:r>
              <a:rPr lang="en-US" dirty="0"/>
              <a:t>to 8.3+ million tons in 2022</a:t>
            </a:r>
          </a:p>
          <a:p>
            <a:r>
              <a:rPr lang="en-US" dirty="0"/>
              <a:t>Mass transition from gas to coal heating done without installing proper </a:t>
            </a:r>
            <a:r>
              <a:rPr lang="en-US" b="1" dirty="0"/>
              <a:t>air filtration or energy saving systems</a:t>
            </a:r>
          </a:p>
          <a:p>
            <a:endParaRPr lang="en-GB" dirty="0"/>
          </a:p>
        </p:txBody>
      </p:sp>
      <p:pic>
        <p:nvPicPr>
          <p:cNvPr id="7170" name="Picture 2" descr="зарарли gazлар, issiqxona, экология vazirligi">
            <a:extLst>
              <a:ext uri="{FF2B5EF4-FFF2-40B4-BE49-F238E27FC236}">
                <a16:creationId xmlns:a16="http://schemas.microsoft.com/office/drawing/2014/main" id="{04B5AE81-18AF-10C8-40CE-AA92587EABC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867" y="1600200"/>
            <a:ext cx="384226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53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9E1-BF99-6CEC-9D87-3F2B0CC5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solidFill>
                  <a:schemeClr val="tx2"/>
                </a:solidFill>
              </a:rPr>
              <a:t>GozanLink</a:t>
            </a:r>
            <a:r>
              <a:rPr lang="en-GB" dirty="0"/>
              <a:t> – greenhouse monitoring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90C8-7AA9-1252-53EE-445B330B0D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Comprehensive greenhouse climate monitoring system</a:t>
            </a:r>
            <a:endParaRPr lang="en-GB" dirty="0"/>
          </a:p>
          <a:p>
            <a:pPr lvl="1"/>
            <a:r>
              <a:rPr lang="en-GB" dirty="0"/>
              <a:t>Combines indoor/outdoor climate sensors, soil monitoring, and energy usage tracking through mobile/web apps and on-site dashboard.</a:t>
            </a:r>
            <a:endParaRPr lang="en-US" dirty="0"/>
          </a:p>
          <a:p>
            <a:r>
              <a:rPr lang="en-US" b="1" dirty="0"/>
              <a:t>Reduces energy consumption by 18-30%</a:t>
            </a:r>
            <a:r>
              <a:rPr lang="en-US" dirty="0"/>
              <a:t> through smart scheduling of the burner</a:t>
            </a:r>
          </a:p>
          <a:p>
            <a:r>
              <a:rPr lang="en-US" dirty="0"/>
              <a:t>Continuously informs the owner about </a:t>
            </a:r>
            <a:r>
              <a:rPr lang="en-US" b="1" dirty="0"/>
              <a:t>emergency cases</a:t>
            </a:r>
          </a:p>
          <a:p>
            <a:pPr lvl="1"/>
            <a:r>
              <a:rPr lang="en-US" dirty="0"/>
              <a:t>Temperature drops and frosts</a:t>
            </a:r>
          </a:p>
          <a:p>
            <a:pPr lvl="1"/>
            <a:r>
              <a:rPr lang="en-US" dirty="0"/>
              <a:t>Humidity spikes</a:t>
            </a:r>
          </a:p>
          <a:p>
            <a:pPr lvl="1"/>
            <a:r>
              <a:rPr lang="en-US" dirty="0"/>
              <a:t>Strong winds</a:t>
            </a:r>
          </a:p>
          <a:p>
            <a:pPr lvl="1"/>
            <a:r>
              <a:rPr lang="en-US" dirty="0"/>
              <a:t>Power outages</a:t>
            </a:r>
          </a:p>
          <a:p>
            <a:r>
              <a:rPr lang="en-US" dirty="0"/>
              <a:t>Provides remote controlled </a:t>
            </a:r>
            <a:r>
              <a:rPr lang="en-US" b="1" dirty="0"/>
              <a:t>alarm service </a:t>
            </a:r>
            <a:r>
              <a:rPr lang="en-US" dirty="0"/>
              <a:t>for managing greenhouse personnel</a:t>
            </a:r>
            <a:endParaRPr lang="en-GB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6C283E3-DB84-77E0-DC76-40B23D57040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1842303"/>
            <a:ext cx="5384800" cy="404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399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DB37-C58F-6BD9-03E9-4F202BDA3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Use of weather stations in agriculture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B8E3B-0EEC-EFB9-DE15-1495223386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397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808A5A-B0F1-B108-258A-D61D43C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Issues of Agriculture in Uzbekistan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E8A13E-A349-56AE-0E0B-25D221242408}"/>
              </a:ext>
            </a:extLst>
          </p:cNvPr>
          <p:cNvSpPr/>
          <p:nvPr/>
        </p:nvSpPr>
        <p:spPr>
          <a:xfrm>
            <a:off x="9220548" y="1757697"/>
            <a:ext cx="1154545" cy="10067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160B0A-9ED1-8C1A-A6C5-FE058E120FFD}"/>
              </a:ext>
            </a:extLst>
          </p:cNvPr>
          <p:cNvSpPr/>
          <p:nvPr/>
        </p:nvSpPr>
        <p:spPr>
          <a:xfrm>
            <a:off x="7234665" y="1723873"/>
            <a:ext cx="1154545" cy="10067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E62E56C-A6B6-18E6-344F-E2566F9E02B7}"/>
              </a:ext>
            </a:extLst>
          </p:cNvPr>
          <p:cNvSpPr/>
          <p:nvPr/>
        </p:nvSpPr>
        <p:spPr>
          <a:xfrm>
            <a:off x="5224746" y="1723873"/>
            <a:ext cx="1154545" cy="10067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B89418-F16C-F436-286F-A2654EF7BA7B}"/>
              </a:ext>
            </a:extLst>
          </p:cNvPr>
          <p:cNvSpPr/>
          <p:nvPr/>
        </p:nvSpPr>
        <p:spPr>
          <a:xfrm>
            <a:off x="3061780" y="1768206"/>
            <a:ext cx="1154545" cy="10067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0F9DF7-0A79-5F8C-FCFB-E5EC4F0AED9C}"/>
              </a:ext>
            </a:extLst>
          </p:cNvPr>
          <p:cNvSpPr/>
          <p:nvPr/>
        </p:nvSpPr>
        <p:spPr>
          <a:xfrm>
            <a:off x="940198" y="1769081"/>
            <a:ext cx="1154545" cy="10067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725A277-89DD-A9A0-0508-B963CFB830BA}"/>
              </a:ext>
            </a:extLst>
          </p:cNvPr>
          <p:cNvSpPr txBox="1">
            <a:spLocks/>
          </p:cNvSpPr>
          <p:nvPr/>
        </p:nvSpPr>
        <p:spPr>
          <a:xfrm>
            <a:off x="2820040" y="3908804"/>
            <a:ext cx="1897734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tx1"/>
                </a:solidFill>
              </a:rPr>
              <a:t>Inefficient water and fertilizer management leads to 20-30% productivity losses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Outdated farming practices fail to optimize resource allocation across growing seasons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22952EC9-C4D2-C316-6EAD-6EC2414D6129}"/>
              </a:ext>
            </a:extLst>
          </p:cNvPr>
          <p:cNvSpPr txBox="1">
            <a:spLocks/>
          </p:cNvSpPr>
          <p:nvPr/>
        </p:nvSpPr>
        <p:spPr>
          <a:xfrm>
            <a:off x="4966183" y="3225994"/>
            <a:ext cx="1787517" cy="1045144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Farmers react to outbreaks instead of preventing them through early detection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Lack of real-time monitoring results in 60-80% crop damage before treatment begins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66DE4B29-31E3-B966-56BD-365E684CE5A3}"/>
              </a:ext>
            </a:extLst>
          </p:cNvPr>
          <p:cNvSpPr txBox="1">
            <a:spLocks/>
          </p:cNvSpPr>
          <p:nvPr/>
        </p:nvSpPr>
        <p:spPr>
          <a:xfrm>
            <a:off x="7049227" y="3429000"/>
            <a:ext cx="1755478" cy="1121617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Salt accumulation and soil degradation go undetected without proper sensors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Irrigation scheduling relies on guesswork rather than actual soil moisture data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2A44950E-C1BF-90E0-E04B-1110550B7CC6}"/>
              </a:ext>
            </a:extLst>
          </p:cNvPr>
          <p:cNvSpPr txBox="1">
            <a:spLocks/>
          </p:cNvSpPr>
          <p:nvPr/>
        </p:nvSpPr>
        <p:spPr>
          <a:xfrm>
            <a:off x="8920080" y="3361457"/>
            <a:ext cx="1755478" cy="1189160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Excessive pesticide use prevents access to premium international markets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Residue testing failures block organic certification and higher-value exports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9AF9D4F-F072-81A5-B60E-4D1EB76C0B38}"/>
              </a:ext>
            </a:extLst>
          </p:cNvPr>
          <p:cNvSpPr txBox="1">
            <a:spLocks/>
          </p:cNvSpPr>
          <p:nvPr/>
        </p:nvSpPr>
        <p:spPr>
          <a:xfrm>
            <a:off x="610423" y="2779424"/>
            <a:ext cx="1755000" cy="504000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ea typeface="Microsoft YaHei UI" panose="020B0503020204020204" pitchFamily="34" charset="-122"/>
                <a:cs typeface="Arial" panose="020B0604020202020204" pitchFamily="34" charset="0"/>
              </a:rPr>
              <a:t>Climate change</a:t>
            </a:r>
            <a:endParaRPr lang="en-US" sz="1600" b="1" dirty="0"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475A3F4-B45A-E9EF-A2F2-A0B48D821D68}"/>
              </a:ext>
            </a:extLst>
          </p:cNvPr>
          <p:cNvSpPr txBox="1">
            <a:spLocks/>
          </p:cNvSpPr>
          <p:nvPr/>
        </p:nvSpPr>
        <p:spPr>
          <a:xfrm>
            <a:off x="2707543" y="2800299"/>
            <a:ext cx="1897734" cy="504000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ea typeface="Microsoft YaHei UI" panose="020B0503020204020204" pitchFamily="34" charset="-122"/>
                <a:cs typeface="Arial" panose="020B0604020202020204" pitchFamily="34" charset="0"/>
              </a:rPr>
              <a:t>Crop yield decline</a:t>
            </a:r>
            <a:endParaRPr lang="en-US" sz="1600" b="1" dirty="0"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2B141F49-D17D-034B-B6AA-E0DE69E15B8D}"/>
              </a:ext>
            </a:extLst>
          </p:cNvPr>
          <p:cNvSpPr txBox="1">
            <a:spLocks/>
          </p:cNvSpPr>
          <p:nvPr/>
        </p:nvSpPr>
        <p:spPr>
          <a:xfrm>
            <a:off x="4955506" y="2784872"/>
            <a:ext cx="1755478" cy="504000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ea typeface="Microsoft YaHei UI" panose="020B0503020204020204" pitchFamily="34" charset="-122"/>
                <a:cs typeface="Arial" panose="020B0604020202020204" pitchFamily="34" charset="0"/>
              </a:rPr>
              <a:t>Pests and diseases</a:t>
            </a:r>
            <a:endParaRPr lang="en-US" sz="1600" b="1" dirty="0"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F8FE538A-2226-81F6-6148-00109B9E0F1A}"/>
              </a:ext>
            </a:extLst>
          </p:cNvPr>
          <p:cNvSpPr txBox="1">
            <a:spLocks/>
          </p:cNvSpPr>
          <p:nvPr/>
        </p:nvSpPr>
        <p:spPr>
          <a:xfrm>
            <a:off x="6899395" y="2771060"/>
            <a:ext cx="1755477" cy="504000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ea typeface="Microsoft YaHei UI" panose="020B0503020204020204" pitchFamily="34" charset="-122"/>
                <a:cs typeface="Arial" panose="020B0604020202020204" pitchFamily="34" charset="0"/>
              </a:rPr>
              <a:t>Soil and water management</a:t>
            </a:r>
            <a:endParaRPr lang="en-US" sz="1600" b="1" dirty="0"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3CC012F1-3B02-7A98-B804-21EC4043968A}"/>
              </a:ext>
            </a:extLst>
          </p:cNvPr>
          <p:cNvSpPr txBox="1">
            <a:spLocks/>
          </p:cNvSpPr>
          <p:nvPr/>
        </p:nvSpPr>
        <p:spPr>
          <a:xfrm>
            <a:off x="8684893" y="2777795"/>
            <a:ext cx="2225853" cy="504000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b="1" dirty="0">
                <a:ea typeface="Microsoft YaHei UI" panose="020B0503020204020204" pitchFamily="34" charset="-122"/>
                <a:cs typeface="Arial" panose="020B0604020202020204" pitchFamily="34" charset="0"/>
              </a:rPr>
              <a:t>Quarantine checks in export</a:t>
            </a:r>
            <a:endParaRPr lang="en-US" sz="1600" b="1" dirty="0">
              <a:ea typeface="Microsoft YaHei U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D16E3B55-4A92-6DC4-A14A-D4C2D359D565}"/>
              </a:ext>
            </a:extLst>
          </p:cNvPr>
          <p:cNvSpPr txBox="1">
            <a:spLocks/>
          </p:cNvSpPr>
          <p:nvPr/>
        </p:nvSpPr>
        <p:spPr>
          <a:xfrm>
            <a:off x="826830" y="3273520"/>
            <a:ext cx="1787517" cy="1146238"/>
          </a:xfrm>
          <a:prstGeom prst="rect">
            <a:avLst/>
          </a:prstGeom>
        </p:spPr>
        <p:txBody>
          <a:bodyPr>
            <a:noAutofit/>
          </a:bodyPr>
          <a:lstStyle>
            <a:lvl1pPr marL="342908" indent="-342908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69" indent="-285757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28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40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52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63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74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86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97" indent="-228606" algn="l" defTabSz="91442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Weather data remains largely analog and inaccessible to farmers for decision-making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Unpredictable temperature and precipitation patterns threaten crop planning and yields</a:t>
            </a:r>
          </a:p>
        </p:txBody>
      </p:sp>
      <p:pic>
        <p:nvPicPr>
          <p:cNvPr id="41" name="Picture 23" descr="Cloud">
            <a:extLst>
              <a:ext uri="{FF2B5EF4-FFF2-40B4-BE49-F238E27FC236}">
                <a16:creationId xmlns:a16="http://schemas.microsoft.com/office/drawing/2014/main" id="{89855AAA-5EF2-93F7-D925-41C6A1E4458D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98726" y="1906237"/>
            <a:ext cx="637491" cy="642036"/>
          </a:xfrm>
          <a:prstGeom prst="rect">
            <a:avLst/>
          </a:prstGeom>
          <a:ln>
            <a:noFill/>
          </a:ln>
        </p:spPr>
      </p:pic>
      <p:sp>
        <p:nvSpPr>
          <p:cNvPr id="42" name="Google Shape;14930;p77">
            <a:extLst>
              <a:ext uri="{FF2B5EF4-FFF2-40B4-BE49-F238E27FC236}">
                <a16:creationId xmlns:a16="http://schemas.microsoft.com/office/drawing/2014/main" id="{789A088A-8BE2-D87A-746D-B0D045BEF935}"/>
              </a:ext>
            </a:extLst>
          </p:cNvPr>
          <p:cNvSpPr/>
          <p:nvPr/>
        </p:nvSpPr>
        <p:spPr>
          <a:xfrm>
            <a:off x="5601731" y="2031992"/>
            <a:ext cx="421673" cy="452748"/>
          </a:xfrm>
          <a:custGeom>
            <a:avLst/>
            <a:gdLst/>
            <a:ahLst/>
            <a:cxnLst/>
            <a:rect l="l" t="t" r="r" b="b"/>
            <a:pathLst>
              <a:path w="12162" h="12162" extrusionOk="0">
                <a:moveTo>
                  <a:pt x="1072" y="3561"/>
                </a:moveTo>
                <a:cubicBezTo>
                  <a:pt x="1229" y="3561"/>
                  <a:pt x="1418" y="3813"/>
                  <a:pt x="1418" y="4254"/>
                </a:cubicBezTo>
                <a:cubicBezTo>
                  <a:pt x="1418" y="4695"/>
                  <a:pt x="1229" y="4979"/>
                  <a:pt x="1072" y="4979"/>
                </a:cubicBezTo>
                <a:cubicBezTo>
                  <a:pt x="914" y="4979"/>
                  <a:pt x="694" y="4695"/>
                  <a:pt x="694" y="4254"/>
                </a:cubicBezTo>
                <a:cubicBezTo>
                  <a:pt x="694" y="3813"/>
                  <a:pt x="914" y="3561"/>
                  <a:pt x="1072" y="3561"/>
                </a:cubicBezTo>
                <a:close/>
                <a:moveTo>
                  <a:pt x="4632" y="3561"/>
                </a:moveTo>
                <a:cubicBezTo>
                  <a:pt x="4821" y="3561"/>
                  <a:pt x="5010" y="3813"/>
                  <a:pt x="5010" y="4254"/>
                </a:cubicBezTo>
                <a:cubicBezTo>
                  <a:pt x="5010" y="4695"/>
                  <a:pt x="4758" y="4979"/>
                  <a:pt x="4632" y="4979"/>
                </a:cubicBezTo>
                <a:cubicBezTo>
                  <a:pt x="4474" y="4979"/>
                  <a:pt x="4285" y="4695"/>
                  <a:pt x="4285" y="4254"/>
                </a:cubicBezTo>
                <a:cubicBezTo>
                  <a:pt x="4285" y="3813"/>
                  <a:pt x="4474" y="3561"/>
                  <a:pt x="4632" y="3561"/>
                </a:cubicBezTo>
                <a:close/>
                <a:moveTo>
                  <a:pt x="2836" y="2080"/>
                </a:moveTo>
                <a:cubicBezTo>
                  <a:pt x="3466" y="2080"/>
                  <a:pt x="4065" y="2395"/>
                  <a:pt x="4443" y="2836"/>
                </a:cubicBezTo>
                <a:cubicBezTo>
                  <a:pt x="3939" y="2962"/>
                  <a:pt x="3529" y="3498"/>
                  <a:pt x="3529" y="4254"/>
                </a:cubicBezTo>
                <a:cubicBezTo>
                  <a:pt x="3529" y="4979"/>
                  <a:pt x="3939" y="5546"/>
                  <a:pt x="4443" y="5672"/>
                </a:cubicBezTo>
                <a:cubicBezTo>
                  <a:pt x="4065" y="6113"/>
                  <a:pt x="3466" y="6428"/>
                  <a:pt x="2836" y="6428"/>
                </a:cubicBezTo>
                <a:cubicBezTo>
                  <a:pt x="2206" y="6428"/>
                  <a:pt x="1607" y="6144"/>
                  <a:pt x="1229" y="5672"/>
                </a:cubicBezTo>
                <a:cubicBezTo>
                  <a:pt x="1733" y="5546"/>
                  <a:pt x="2143" y="5010"/>
                  <a:pt x="2143" y="4254"/>
                </a:cubicBezTo>
                <a:cubicBezTo>
                  <a:pt x="2143" y="3561"/>
                  <a:pt x="1733" y="2962"/>
                  <a:pt x="1229" y="2836"/>
                </a:cubicBezTo>
                <a:cubicBezTo>
                  <a:pt x="1607" y="2395"/>
                  <a:pt x="2206" y="2080"/>
                  <a:pt x="2836" y="2080"/>
                </a:cubicBezTo>
                <a:close/>
                <a:moveTo>
                  <a:pt x="11090" y="6459"/>
                </a:moveTo>
                <a:cubicBezTo>
                  <a:pt x="11311" y="6459"/>
                  <a:pt x="11468" y="6617"/>
                  <a:pt x="11468" y="6806"/>
                </a:cubicBezTo>
                <a:cubicBezTo>
                  <a:pt x="11468" y="7027"/>
                  <a:pt x="11311" y="7184"/>
                  <a:pt x="11090" y="7184"/>
                </a:cubicBezTo>
                <a:cubicBezTo>
                  <a:pt x="10901" y="7184"/>
                  <a:pt x="10744" y="7027"/>
                  <a:pt x="10744" y="6806"/>
                </a:cubicBezTo>
                <a:cubicBezTo>
                  <a:pt x="10744" y="6617"/>
                  <a:pt x="10901" y="6459"/>
                  <a:pt x="11090" y="6459"/>
                </a:cubicBezTo>
                <a:close/>
                <a:moveTo>
                  <a:pt x="4222" y="6774"/>
                </a:moveTo>
                <a:cubicBezTo>
                  <a:pt x="4254" y="6901"/>
                  <a:pt x="4285" y="7058"/>
                  <a:pt x="4285" y="7184"/>
                </a:cubicBezTo>
                <a:cubicBezTo>
                  <a:pt x="4285" y="7972"/>
                  <a:pt x="3655" y="8602"/>
                  <a:pt x="2868" y="8602"/>
                </a:cubicBezTo>
                <a:cubicBezTo>
                  <a:pt x="2080" y="8539"/>
                  <a:pt x="1418" y="7909"/>
                  <a:pt x="1418" y="7121"/>
                </a:cubicBezTo>
                <a:cubicBezTo>
                  <a:pt x="1418" y="7027"/>
                  <a:pt x="1418" y="6901"/>
                  <a:pt x="1450" y="6774"/>
                </a:cubicBezTo>
                <a:cubicBezTo>
                  <a:pt x="1859" y="7027"/>
                  <a:pt x="2332" y="7121"/>
                  <a:pt x="2836" y="7121"/>
                </a:cubicBezTo>
                <a:cubicBezTo>
                  <a:pt x="3340" y="7121"/>
                  <a:pt x="3813" y="7027"/>
                  <a:pt x="4222" y="6774"/>
                </a:cubicBezTo>
                <a:close/>
                <a:moveTo>
                  <a:pt x="10744" y="7877"/>
                </a:moveTo>
                <a:cubicBezTo>
                  <a:pt x="11153" y="7877"/>
                  <a:pt x="11468" y="8192"/>
                  <a:pt x="11468" y="8602"/>
                </a:cubicBezTo>
                <a:cubicBezTo>
                  <a:pt x="11468" y="8980"/>
                  <a:pt x="11153" y="9295"/>
                  <a:pt x="10744" y="9295"/>
                </a:cubicBezTo>
                <a:cubicBezTo>
                  <a:pt x="10618" y="8917"/>
                  <a:pt x="10397" y="8539"/>
                  <a:pt x="10114" y="8287"/>
                </a:cubicBezTo>
                <a:cubicBezTo>
                  <a:pt x="10240" y="8035"/>
                  <a:pt x="10492" y="7877"/>
                  <a:pt x="10744" y="7877"/>
                </a:cubicBezTo>
                <a:close/>
                <a:moveTo>
                  <a:pt x="8979" y="8539"/>
                </a:moveTo>
                <a:cubicBezTo>
                  <a:pt x="9578" y="8539"/>
                  <a:pt x="10051" y="9011"/>
                  <a:pt x="10051" y="9610"/>
                </a:cubicBezTo>
                <a:cubicBezTo>
                  <a:pt x="10051" y="10240"/>
                  <a:pt x="9578" y="10713"/>
                  <a:pt x="8979" y="10713"/>
                </a:cubicBezTo>
                <a:cubicBezTo>
                  <a:pt x="8822" y="10713"/>
                  <a:pt x="8664" y="10681"/>
                  <a:pt x="8538" y="10650"/>
                </a:cubicBezTo>
                <a:cubicBezTo>
                  <a:pt x="8570" y="10429"/>
                  <a:pt x="8633" y="10240"/>
                  <a:pt x="8633" y="10019"/>
                </a:cubicBezTo>
                <a:cubicBezTo>
                  <a:pt x="8633" y="9578"/>
                  <a:pt x="8507" y="9169"/>
                  <a:pt x="8255" y="8822"/>
                </a:cubicBezTo>
                <a:cubicBezTo>
                  <a:pt x="8475" y="8665"/>
                  <a:pt x="8696" y="8539"/>
                  <a:pt x="8979" y="8539"/>
                </a:cubicBezTo>
                <a:close/>
                <a:moveTo>
                  <a:pt x="4852" y="8003"/>
                </a:moveTo>
                <a:cubicBezTo>
                  <a:pt x="5356" y="8224"/>
                  <a:pt x="5734" y="8759"/>
                  <a:pt x="5734" y="9326"/>
                </a:cubicBezTo>
                <a:cubicBezTo>
                  <a:pt x="5734" y="10114"/>
                  <a:pt x="5104" y="10744"/>
                  <a:pt x="4317" y="10744"/>
                </a:cubicBezTo>
                <a:cubicBezTo>
                  <a:pt x="3529" y="10713"/>
                  <a:pt x="2868" y="10083"/>
                  <a:pt x="2868" y="9295"/>
                </a:cubicBezTo>
                <a:cubicBezTo>
                  <a:pt x="3781" y="9295"/>
                  <a:pt x="4537" y="8759"/>
                  <a:pt x="4852" y="8003"/>
                </a:cubicBezTo>
                <a:close/>
                <a:moveTo>
                  <a:pt x="6459" y="8633"/>
                </a:moveTo>
                <a:cubicBezTo>
                  <a:pt x="7247" y="8633"/>
                  <a:pt x="7877" y="9263"/>
                  <a:pt x="7877" y="10051"/>
                </a:cubicBezTo>
                <a:cubicBezTo>
                  <a:pt x="7877" y="10807"/>
                  <a:pt x="7247" y="11469"/>
                  <a:pt x="6459" y="11469"/>
                </a:cubicBezTo>
                <a:cubicBezTo>
                  <a:pt x="6113" y="11469"/>
                  <a:pt x="5734" y="11343"/>
                  <a:pt x="5514" y="11122"/>
                </a:cubicBezTo>
                <a:cubicBezTo>
                  <a:pt x="6113" y="10713"/>
                  <a:pt x="6459" y="10083"/>
                  <a:pt x="6459" y="9326"/>
                </a:cubicBezTo>
                <a:cubicBezTo>
                  <a:pt x="6459" y="9106"/>
                  <a:pt x="6428" y="8854"/>
                  <a:pt x="6333" y="8633"/>
                </a:cubicBezTo>
                <a:close/>
                <a:moveTo>
                  <a:pt x="1418" y="1"/>
                </a:moveTo>
                <a:cubicBezTo>
                  <a:pt x="631" y="1"/>
                  <a:pt x="1" y="631"/>
                  <a:pt x="1" y="1419"/>
                </a:cubicBezTo>
                <a:cubicBezTo>
                  <a:pt x="1" y="1891"/>
                  <a:pt x="221" y="2269"/>
                  <a:pt x="599" y="2553"/>
                </a:cubicBezTo>
                <a:cubicBezTo>
                  <a:pt x="221" y="3025"/>
                  <a:pt x="1" y="3624"/>
                  <a:pt x="1" y="4254"/>
                </a:cubicBezTo>
                <a:cubicBezTo>
                  <a:pt x="1" y="5042"/>
                  <a:pt x="316" y="5798"/>
                  <a:pt x="851" y="6302"/>
                </a:cubicBezTo>
                <a:cubicBezTo>
                  <a:pt x="757" y="6554"/>
                  <a:pt x="694" y="6806"/>
                  <a:pt x="694" y="7090"/>
                </a:cubicBezTo>
                <a:cubicBezTo>
                  <a:pt x="694" y="8035"/>
                  <a:pt x="1324" y="8822"/>
                  <a:pt x="2174" y="9137"/>
                </a:cubicBezTo>
                <a:lnTo>
                  <a:pt x="2174" y="9263"/>
                </a:lnTo>
                <a:cubicBezTo>
                  <a:pt x="2174" y="10429"/>
                  <a:pt x="3151" y="11437"/>
                  <a:pt x="4317" y="11437"/>
                </a:cubicBezTo>
                <a:cubicBezTo>
                  <a:pt x="4474" y="11437"/>
                  <a:pt x="4695" y="11374"/>
                  <a:pt x="4852" y="11374"/>
                </a:cubicBezTo>
                <a:cubicBezTo>
                  <a:pt x="5230" y="11847"/>
                  <a:pt x="5829" y="12162"/>
                  <a:pt x="6491" y="12162"/>
                </a:cubicBezTo>
                <a:cubicBezTo>
                  <a:pt x="7215" y="12162"/>
                  <a:pt x="7845" y="11815"/>
                  <a:pt x="8223" y="11311"/>
                </a:cubicBezTo>
                <a:cubicBezTo>
                  <a:pt x="8475" y="11437"/>
                  <a:pt x="8727" y="11469"/>
                  <a:pt x="8979" y="11469"/>
                </a:cubicBezTo>
                <a:cubicBezTo>
                  <a:pt x="9830" y="11469"/>
                  <a:pt x="10555" y="10839"/>
                  <a:pt x="10712" y="10051"/>
                </a:cubicBezTo>
                <a:lnTo>
                  <a:pt x="10744" y="10051"/>
                </a:lnTo>
                <a:cubicBezTo>
                  <a:pt x="11531" y="10051"/>
                  <a:pt x="12161" y="9421"/>
                  <a:pt x="12161" y="8633"/>
                </a:cubicBezTo>
                <a:cubicBezTo>
                  <a:pt x="12161" y="8287"/>
                  <a:pt x="12004" y="7909"/>
                  <a:pt x="11783" y="7657"/>
                </a:cubicBezTo>
                <a:cubicBezTo>
                  <a:pt x="12004" y="7436"/>
                  <a:pt x="12161" y="7121"/>
                  <a:pt x="12161" y="6806"/>
                </a:cubicBezTo>
                <a:cubicBezTo>
                  <a:pt x="12161" y="6239"/>
                  <a:pt x="11689" y="5766"/>
                  <a:pt x="11090" y="5766"/>
                </a:cubicBezTo>
                <a:cubicBezTo>
                  <a:pt x="10523" y="5766"/>
                  <a:pt x="10051" y="6239"/>
                  <a:pt x="10051" y="6806"/>
                </a:cubicBezTo>
                <a:cubicBezTo>
                  <a:pt x="10051" y="6964"/>
                  <a:pt x="10082" y="7184"/>
                  <a:pt x="10145" y="7279"/>
                </a:cubicBezTo>
                <a:cubicBezTo>
                  <a:pt x="10051" y="7342"/>
                  <a:pt x="9925" y="7405"/>
                  <a:pt x="9799" y="7531"/>
                </a:cubicBezTo>
                <a:cubicBezTo>
                  <a:pt x="9641" y="7657"/>
                  <a:pt x="9515" y="7783"/>
                  <a:pt x="9452" y="7940"/>
                </a:cubicBezTo>
                <a:cubicBezTo>
                  <a:pt x="9295" y="7909"/>
                  <a:pt x="9137" y="7877"/>
                  <a:pt x="8948" y="7877"/>
                </a:cubicBezTo>
                <a:cubicBezTo>
                  <a:pt x="8507" y="7877"/>
                  <a:pt x="8066" y="8035"/>
                  <a:pt x="7751" y="8318"/>
                </a:cubicBezTo>
                <a:cubicBezTo>
                  <a:pt x="7404" y="8035"/>
                  <a:pt x="6932" y="7877"/>
                  <a:pt x="6459" y="7877"/>
                </a:cubicBezTo>
                <a:cubicBezTo>
                  <a:pt x="6302" y="7877"/>
                  <a:pt x="6113" y="7909"/>
                  <a:pt x="5955" y="7909"/>
                </a:cubicBezTo>
                <a:cubicBezTo>
                  <a:pt x="5703" y="7594"/>
                  <a:pt x="5356" y="7373"/>
                  <a:pt x="5010" y="7247"/>
                </a:cubicBezTo>
                <a:lnTo>
                  <a:pt x="5010" y="7121"/>
                </a:lnTo>
                <a:cubicBezTo>
                  <a:pt x="5010" y="6869"/>
                  <a:pt x="4915" y="6585"/>
                  <a:pt x="4789" y="6302"/>
                </a:cubicBezTo>
                <a:cubicBezTo>
                  <a:pt x="5356" y="5798"/>
                  <a:pt x="5671" y="5042"/>
                  <a:pt x="5671" y="4254"/>
                </a:cubicBezTo>
                <a:cubicBezTo>
                  <a:pt x="5671" y="3624"/>
                  <a:pt x="5482" y="3025"/>
                  <a:pt x="5073" y="2553"/>
                </a:cubicBezTo>
                <a:cubicBezTo>
                  <a:pt x="5419" y="2301"/>
                  <a:pt x="5671" y="1891"/>
                  <a:pt x="5671" y="1419"/>
                </a:cubicBezTo>
                <a:cubicBezTo>
                  <a:pt x="5671" y="631"/>
                  <a:pt x="5041" y="1"/>
                  <a:pt x="4254" y="1"/>
                </a:cubicBezTo>
                <a:cubicBezTo>
                  <a:pt x="4065" y="1"/>
                  <a:pt x="3907" y="158"/>
                  <a:pt x="3907" y="348"/>
                </a:cubicBezTo>
                <a:cubicBezTo>
                  <a:pt x="3907" y="568"/>
                  <a:pt x="4065" y="726"/>
                  <a:pt x="4254" y="726"/>
                </a:cubicBezTo>
                <a:cubicBezTo>
                  <a:pt x="4632" y="726"/>
                  <a:pt x="4947" y="1041"/>
                  <a:pt x="4947" y="1419"/>
                </a:cubicBezTo>
                <a:cubicBezTo>
                  <a:pt x="4947" y="1702"/>
                  <a:pt x="4789" y="1923"/>
                  <a:pt x="4600" y="2049"/>
                </a:cubicBezTo>
                <a:cubicBezTo>
                  <a:pt x="4128" y="1671"/>
                  <a:pt x="3498" y="1419"/>
                  <a:pt x="2836" y="1419"/>
                </a:cubicBezTo>
                <a:cubicBezTo>
                  <a:pt x="2174" y="1419"/>
                  <a:pt x="1544" y="1671"/>
                  <a:pt x="1072" y="2049"/>
                </a:cubicBezTo>
                <a:cubicBezTo>
                  <a:pt x="820" y="1923"/>
                  <a:pt x="694" y="1702"/>
                  <a:pt x="694" y="1419"/>
                </a:cubicBezTo>
                <a:cubicBezTo>
                  <a:pt x="694" y="1041"/>
                  <a:pt x="1009" y="726"/>
                  <a:pt x="1418" y="726"/>
                </a:cubicBezTo>
                <a:cubicBezTo>
                  <a:pt x="1607" y="726"/>
                  <a:pt x="1765" y="568"/>
                  <a:pt x="1765" y="348"/>
                </a:cubicBezTo>
                <a:cubicBezTo>
                  <a:pt x="1765" y="158"/>
                  <a:pt x="1607" y="1"/>
                  <a:pt x="1418" y="1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accent3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43" name="Picture 42" descr="D:\amudar.io\presentation\karantin\icons8-customs-64.png">
            <a:extLst>
              <a:ext uri="{FF2B5EF4-FFF2-40B4-BE49-F238E27FC236}">
                <a16:creationId xmlns:a16="http://schemas.microsoft.com/office/drawing/2014/main" id="{8916767E-CAC9-1723-CA69-36411FE7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522" y="2011889"/>
            <a:ext cx="455012" cy="45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3" descr="Cactus">
            <a:extLst>
              <a:ext uri="{FF2B5EF4-FFF2-40B4-BE49-F238E27FC236}">
                <a16:creationId xmlns:a16="http://schemas.microsoft.com/office/drawing/2014/main" id="{C9645DB4-8E5B-1FD0-4A76-3A5CFC4917F8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017" b="4017"/>
          <a:stretch/>
        </p:blipFill>
        <p:spPr>
          <a:xfrm>
            <a:off x="3292085" y="2011889"/>
            <a:ext cx="693936" cy="642036"/>
          </a:xfrm>
          <a:prstGeom prst="rect">
            <a:avLst/>
          </a:prstGeom>
          <a:ln>
            <a:noFill/>
          </a:ln>
        </p:spPr>
      </p:pic>
      <p:pic>
        <p:nvPicPr>
          <p:cNvPr id="45" name="Picture 2" descr="D:\amudar.io\nuu_technopark\icons8-soil-80.png">
            <a:extLst>
              <a:ext uri="{FF2B5EF4-FFF2-40B4-BE49-F238E27FC236}">
                <a16:creationId xmlns:a16="http://schemas.microsoft.com/office/drawing/2014/main" id="{A9524B82-9A68-76C0-0D85-05356E3E5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071" y="1988090"/>
            <a:ext cx="568766" cy="57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635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AB4E-26EF-A000-81EE-B5225246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weather stations?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8412-718B-2A17-59F1-A8EF5032A3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Irrigation systems</a:t>
            </a:r>
          </a:p>
          <a:p>
            <a:r>
              <a:rPr lang="en-US" dirty="0"/>
              <a:t>Greenhouse management</a:t>
            </a:r>
          </a:p>
          <a:p>
            <a:r>
              <a:rPr lang="en-US" dirty="0"/>
              <a:t>Prevention of pest spread</a:t>
            </a:r>
          </a:p>
          <a:p>
            <a:r>
              <a:rPr lang="en-US" dirty="0"/>
              <a:t>Disease prevention</a:t>
            </a:r>
          </a:p>
          <a:p>
            <a:r>
              <a:rPr lang="en-US" dirty="0"/>
              <a:t>Monitoring plant development</a:t>
            </a:r>
          </a:p>
          <a:p>
            <a:r>
              <a:rPr lang="en-US" dirty="0"/>
              <a:t>Field work planning</a:t>
            </a:r>
          </a:p>
          <a:p>
            <a:r>
              <a:rPr lang="en-US" dirty="0"/>
              <a:t>Farm management</a:t>
            </a:r>
          </a:p>
          <a:p>
            <a:r>
              <a:rPr lang="en-US" dirty="0" err="1"/>
              <a:t>Agrologistics</a:t>
            </a:r>
            <a:endParaRPr lang="en-GB" dirty="0"/>
          </a:p>
        </p:txBody>
      </p:sp>
      <p:pic>
        <p:nvPicPr>
          <p:cNvPr id="7171" name="Picture 3" descr="Linkage between automatic weather station and irrigation system">
            <a:extLst>
              <a:ext uri="{FF2B5EF4-FFF2-40B4-BE49-F238E27FC236}">
                <a16:creationId xmlns:a16="http://schemas.microsoft.com/office/drawing/2014/main" id="{AC7E0B4B-2D0B-9127-C929-2663D43D752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1"/>
          <a:stretch/>
        </p:blipFill>
        <p:spPr bwMode="auto">
          <a:xfrm>
            <a:off x="7320136" y="1600206"/>
            <a:ext cx="3799198" cy="456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801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0435-49D9-3068-966F-37CC637A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Economic benefits of weather 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C022-7773-0690-EE0F-360B49AEAC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Impact on productivity</a:t>
            </a:r>
          </a:p>
          <a:p>
            <a:pPr lvl="1"/>
            <a:r>
              <a:rPr lang="en-US" dirty="0"/>
              <a:t>Increase crop yield by 15-30%</a:t>
            </a:r>
          </a:p>
          <a:p>
            <a:pPr lvl="1"/>
            <a:r>
              <a:rPr lang="en-US" dirty="0"/>
              <a:t>Reduce crop losses by 20-40%</a:t>
            </a:r>
            <a:endParaRPr lang="ru-RU" dirty="0"/>
          </a:p>
          <a:p>
            <a:r>
              <a:rPr lang="en-GB" b="1" dirty="0"/>
              <a:t>Resource efficiency</a:t>
            </a:r>
            <a:endParaRPr lang="ru-RU" b="1" dirty="0"/>
          </a:p>
          <a:p>
            <a:pPr lvl="1"/>
            <a:r>
              <a:rPr lang="en-US" dirty="0"/>
              <a:t>Reduce water consumption by 20-30%</a:t>
            </a:r>
          </a:p>
          <a:p>
            <a:pPr lvl="1"/>
            <a:r>
              <a:rPr lang="en-US" dirty="0"/>
              <a:t>Increase fertilizer efficiency by 15-25%</a:t>
            </a:r>
          </a:p>
          <a:p>
            <a:pPr lvl="1"/>
            <a:r>
              <a:rPr lang="en-US" dirty="0"/>
              <a:t>Reduce labor costs by 10-20%</a:t>
            </a:r>
            <a:endParaRPr lang="ru-RU" dirty="0"/>
          </a:p>
          <a:p>
            <a:r>
              <a:rPr lang="en-GB" b="1" dirty="0"/>
              <a:t>Expected savings per annum per </a:t>
            </a:r>
            <a:r>
              <a:rPr lang="en-GB" b="1" dirty="0" err="1"/>
              <a:t>hec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en-GB" dirty="0"/>
              <a:t>Water savings</a:t>
            </a:r>
            <a:r>
              <a:rPr lang="ru-RU" dirty="0"/>
              <a:t>: $500-1,500</a:t>
            </a:r>
          </a:p>
          <a:p>
            <a:pPr lvl="1"/>
            <a:r>
              <a:rPr lang="en-GB" dirty="0"/>
              <a:t>Crop preservation</a:t>
            </a:r>
            <a:r>
              <a:rPr lang="ru-RU" dirty="0"/>
              <a:t>: $2,000-5,000</a:t>
            </a:r>
          </a:p>
          <a:p>
            <a:pPr lvl="1"/>
            <a:r>
              <a:rPr lang="en-GB" dirty="0"/>
              <a:t>Labor savings</a:t>
            </a:r>
            <a:r>
              <a:rPr lang="ru-RU" dirty="0"/>
              <a:t>: $1,000-2,000</a:t>
            </a:r>
          </a:p>
          <a:p>
            <a:pPr lvl="1"/>
            <a:r>
              <a:rPr lang="en-GB" dirty="0"/>
              <a:t>ROI – 1-2 years</a:t>
            </a:r>
            <a:endParaRPr lang="ru-RU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509D0-E46D-5005-9A0C-B0E057229D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Initial costs</a:t>
            </a:r>
            <a:endParaRPr lang="uz-Cyrl-UZ" b="1" dirty="0"/>
          </a:p>
          <a:p>
            <a:pPr lvl="1"/>
            <a:r>
              <a:rPr lang="en-GB" dirty="0"/>
              <a:t>Installation fee</a:t>
            </a:r>
            <a:r>
              <a:rPr lang="ru-RU" dirty="0"/>
              <a:t>: $2,000-5,000</a:t>
            </a:r>
          </a:p>
          <a:p>
            <a:pPr lvl="1"/>
            <a:r>
              <a:rPr lang="en-GB" dirty="0"/>
              <a:t>Yearly maintenance</a:t>
            </a:r>
            <a:r>
              <a:rPr lang="ru-RU" dirty="0"/>
              <a:t>: $200-500</a:t>
            </a:r>
            <a:endParaRPr lang="en-GB" dirty="0"/>
          </a:p>
          <a:p>
            <a:r>
              <a:rPr lang="en-GB" b="1" dirty="0"/>
              <a:t>Coverage</a:t>
            </a:r>
            <a:endParaRPr lang="ru-RU" b="1" dirty="0"/>
          </a:p>
          <a:p>
            <a:pPr lvl="1"/>
            <a:r>
              <a:rPr lang="en-US" dirty="0"/>
              <a:t>Accuracy level: 95-98% </a:t>
            </a:r>
          </a:p>
          <a:p>
            <a:pPr lvl="1"/>
            <a:r>
              <a:rPr lang="en-US" dirty="0"/>
              <a:t>Coverage area: 10-50 hectares </a:t>
            </a:r>
          </a:p>
          <a:p>
            <a:pPr lvl="1"/>
            <a:r>
              <a:rPr lang="en-US" dirty="0"/>
              <a:t>Battery life: 1-2 years</a:t>
            </a:r>
            <a:endParaRPr lang="ru-RU" dirty="0"/>
          </a:p>
          <a:p>
            <a:endParaRPr lang="ru-RU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96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51EF2-8EF4-C567-6107-B25DDACC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Oxus-WS Weather Station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8A398B-E531-B678-6458-89140EED65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2549034"/>
            <a:ext cx="5384800" cy="2628295"/>
          </a:xfr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A43A2CFE-7BCC-FA3C-FC9F-1BA002CB39A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62956"/>
            <a:ext cx="5384800" cy="42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BB45B6-3EED-68C3-AD30-3BA6103F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156185" y="5197264"/>
            <a:ext cx="927381" cy="88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75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DE5A-7F8F-E701-BF58-B0662A1B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Features of Oxus-WS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5DA46-C279-8BBC-01A2-50FE3EC8C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Real-time data transmission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Uses GSM/GPRS network to automatically upload data to cloud servers for instant access from any location</a:t>
            </a:r>
          </a:p>
          <a:p>
            <a:r>
              <a:rPr lang="en-US" b="1" dirty="0"/>
              <a:t>Web-based monitoring platform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Accessible on any device with historical data, charts, and weather forecasts</a:t>
            </a:r>
          </a:p>
          <a:p>
            <a:r>
              <a:rPr lang="en-US" b="1" dirty="0"/>
              <a:t>Agricultural optimization features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30+ pest/disease risk alerts</a:t>
            </a:r>
          </a:p>
          <a:p>
            <a:pPr lvl="1"/>
            <a:r>
              <a:rPr lang="en-US" dirty="0"/>
              <a:t>Irrigation schedule for cotton and wheat</a:t>
            </a:r>
          </a:p>
          <a:p>
            <a:pPr lvl="1"/>
            <a:r>
              <a:rPr lang="en-US" dirty="0"/>
              <a:t>Spraying and sowing recommendations</a:t>
            </a:r>
          </a:p>
          <a:p>
            <a:pPr lvl="1"/>
            <a:r>
              <a:rPr lang="en-US" dirty="0"/>
              <a:t>Soil trafficability for tillage</a:t>
            </a:r>
          </a:p>
          <a:p>
            <a:pPr lvl="1"/>
            <a:r>
              <a:rPr lang="en-US" dirty="0"/>
              <a:t>Historical and forecasted data for risk assessment</a:t>
            </a:r>
          </a:p>
          <a:p>
            <a:r>
              <a:rPr lang="en-US" b="1" dirty="0"/>
              <a:t>Autonomous solar-powered operation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Fully self-sufficient with solar panel and battery backup, designed for remote agricultural locations without grid power and harsh climate</a:t>
            </a:r>
          </a:p>
          <a:p>
            <a:endParaRPr lang="en-GB" dirty="0"/>
          </a:p>
        </p:txBody>
      </p:sp>
      <p:pic>
        <p:nvPicPr>
          <p:cNvPr id="6147" name="Picture 3" descr="Image 1 of 1">
            <a:extLst>
              <a:ext uri="{FF2B5EF4-FFF2-40B4-BE49-F238E27FC236}">
                <a16:creationId xmlns:a16="http://schemas.microsoft.com/office/drawing/2014/main" id="{A94D60F8-74D7-DE49-D917-55D383492A6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1600205"/>
            <a:ext cx="326364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284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F0D0-2F34-A732-0E15-F2FA7411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Glimpse into main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EA96C-A885-6E4D-0361-EC9A2ABDEBC8}"/>
              </a:ext>
            </a:extLst>
          </p:cNvPr>
          <p:cNvSpPr txBox="1"/>
          <p:nvPr/>
        </p:nvSpPr>
        <p:spPr>
          <a:xfrm>
            <a:off x="4630822" y="5794723"/>
            <a:ext cx="29303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hlinkClick r:id="rId3"/>
              </a:rPr>
              <a:t>https://youtu.be/UrKmH4DhuYk</a:t>
            </a:r>
            <a:r>
              <a:rPr lang="en-GB" sz="1600" dirty="0"/>
              <a:t> </a:t>
            </a:r>
          </a:p>
        </p:txBody>
      </p:sp>
      <p:pic>
        <p:nvPicPr>
          <p:cNvPr id="10" name="Online Media 9" title="Main Dashboard">
            <a:hlinkClick r:id="" action="ppaction://media"/>
            <a:extLst>
              <a:ext uri="{FF2B5EF4-FFF2-40B4-BE49-F238E27FC236}">
                <a16:creationId xmlns:a16="http://schemas.microsoft.com/office/drawing/2014/main" id="{27A9B997-69F6-CF95-3A86-B954DBEE548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87561" y="1274643"/>
            <a:ext cx="801687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0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CE10-8EF1-78D5-1895-E81F4DFB2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Professional agronomic forecast</a:t>
            </a:r>
          </a:p>
        </p:txBody>
      </p:sp>
      <p:pic>
        <p:nvPicPr>
          <p:cNvPr id="6" name="Online Media 5" title="Forecasts Screen">
            <a:hlinkClick r:id="" action="ppaction://media"/>
            <a:extLst>
              <a:ext uri="{FF2B5EF4-FFF2-40B4-BE49-F238E27FC236}">
                <a16:creationId xmlns:a16="http://schemas.microsoft.com/office/drawing/2014/main" id="{F6BE385E-C4D5-FDD7-3C06-C827E0B65E6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87562" y="1340768"/>
            <a:ext cx="8016875" cy="4525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912FEA-8AA4-71A4-05D8-F89993A93FCC}"/>
              </a:ext>
            </a:extLst>
          </p:cNvPr>
          <p:cNvSpPr txBox="1"/>
          <p:nvPr/>
        </p:nvSpPr>
        <p:spPr>
          <a:xfrm>
            <a:off x="4630822" y="5794723"/>
            <a:ext cx="2898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hlinkClick r:id="rId4"/>
              </a:rPr>
              <a:t>https://youtu.be/LQNSkBgzp_A</a:t>
            </a:r>
            <a:r>
              <a:rPr lang="en-GB" sz="1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0660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A1F1-49D8-61B7-7646-7F11CF9E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Irrigation Scheduling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9C309-764F-7F42-4B75-BD55A5AF19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Multi-depth soil sensors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Continuous monitoring of soil moisture, temperature, and electrical conductivity at various depths for comprehensive root zone analysis</a:t>
            </a:r>
          </a:p>
          <a:p>
            <a:r>
              <a:rPr lang="en-US" b="1" dirty="0"/>
              <a:t>Evapotranspiration calculations</a:t>
            </a:r>
          </a:p>
          <a:p>
            <a:pPr lvl="1"/>
            <a:r>
              <a:rPr lang="en-US" dirty="0"/>
              <a:t>Measures actual plant water loss to determine precise irrigation needs rather than guessing</a:t>
            </a:r>
          </a:p>
          <a:p>
            <a:r>
              <a:rPr lang="en-US" b="1" dirty="0"/>
              <a:t>Weather-integrated planning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Combines soil data with 7-day weather forecasts to prevent unnecessary watering before expected rainfall</a:t>
            </a:r>
            <a:endParaRPr lang="en-GB" dirty="0"/>
          </a:p>
          <a:p>
            <a:r>
              <a:rPr lang="en-US" b="1" dirty="0"/>
              <a:t>Automated scheduling recommendations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System calculates optimal irrigation timing based on soil moisture levels, weather conditions, and crop requirements</a:t>
            </a:r>
          </a:p>
          <a:p>
            <a:pPr lvl="1"/>
            <a:r>
              <a:rPr lang="en-US" b="1" dirty="0"/>
              <a:t>20-30% water savings</a:t>
            </a:r>
            <a:r>
              <a:rPr lang="en-US" dirty="0"/>
              <a:t> - Precision scheduling eliminates overwatering and reduces water waste compared to calendar-based irrigation</a:t>
            </a:r>
          </a:p>
          <a:p>
            <a:pPr lvl="1"/>
            <a:endParaRPr lang="en-GB" dirty="0"/>
          </a:p>
        </p:txBody>
      </p:sp>
      <p:pic>
        <p:nvPicPr>
          <p:cNvPr id="7170" name="Picture 2" descr="Furrow Irrigation: How It Works and 4 Ways to Improve This Technique">
            <a:extLst>
              <a:ext uri="{FF2B5EF4-FFF2-40B4-BE49-F238E27FC236}">
                <a16:creationId xmlns:a16="http://schemas.microsoft.com/office/drawing/2014/main" id="{A38A8B50-1CD4-D456-8766-C6C0AC34B4C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916832"/>
            <a:ext cx="4375150" cy="328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82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1AB0-DAF0-8407-B435-C66C300D5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Irrigation scheduling calendar</a:t>
            </a:r>
          </a:p>
        </p:txBody>
      </p:sp>
      <p:pic>
        <p:nvPicPr>
          <p:cNvPr id="5" name="Online Media 4" title="Irrigation scheduling screen">
            <a:hlinkClick r:id="" action="ppaction://media"/>
            <a:extLst>
              <a:ext uri="{FF2B5EF4-FFF2-40B4-BE49-F238E27FC236}">
                <a16:creationId xmlns:a16="http://schemas.microsoft.com/office/drawing/2014/main" id="{A68388A8-4777-986D-12B8-BCD2802CEAB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87562" y="1268760"/>
            <a:ext cx="8016875" cy="4525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BBDC03-094A-43B0-BED6-E5BED9C36D00}"/>
              </a:ext>
            </a:extLst>
          </p:cNvPr>
          <p:cNvSpPr txBox="1"/>
          <p:nvPr/>
        </p:nvSpPr>
        <p:spPr>
          <a:xfrm>
            <a:off x="4630822" y="5794723"/>
            <a:ext cx="2797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hlinkClick r:id="rId4"/>
              </a:rPr>
              <a:t>https://youtu.be/5ZAHzCaoIX8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71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65C8-63DB-6AF4-566B-09B0486F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Daily Evapotranspiration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B15AA-73E0-7915-8A2F-C7A74CDFEE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Evapotranspiration</a:t>
            </a:r>
            <a:endParaRPr lang="ru-RU" dirty="0"/>
          </a:p>
          <a:p>
            <a:pPr lvl="1"/>
            <a:r>
              <a:rPr lang="en-US" dirty="0"/>
              <a:t>The sum of water evaporation from soil surface (evaporation) and water evaporation from plants (transpiration)</a:t>
            </a:r>
          </a:p>
          <a:p>
            <a:pPr lvl="1"/>
            <a:r>
              <a:rPr lang="en-US" dirty="0"/>
              <a:t>Measured in mm/day like precipitation</a:t>
            </a:r>
          </a:p>
          <a:p>
            <a:pPr lvl="1"/>
            <a:r>
              <a:rPr lang="en-US" dirty="0"/>
              <a:t>In non-irrigated areas, equals precipitation amount</a:t>
            </a:r>
            <a:endParaRPr lang="ru-RU" dirty="0"/>
          </a:p>
          <a:p>
            <a:r>
              <a:rPr lang="en-GB" b="1" dirty="0"/>
              <a:t>Types</a:t>
            </a:r>
            <a:r>
              <a:rPr lang="ru-RU" b="1" dirty="0"/>
              <a:t>:</a:t>
            </a:r>
          </a:p>
          <a:p>
            <a:pPr lvl="1"/>
            <a:r>
              <a:rPr lang="en-GB" dirty="0"/>
              <a:t>Potential</a:t>
            </a:r>
            <a:r>
              <a:rPr lang="ru-RU" dirty="0"/>
              <a:t> (</a:t>
            </a:r>
            <a:r>
              <a:rPr lang="en-GB" dirty="0"/>
              <a:t>PET)</a:t>
            </a:r>
            <a:endParaRPr lang="uz-Cyrl-UZ" dirty="0"/>
          </a:p>
          <a:p>
            <a:pPr lvl="2"/>
            <a:r>
              <a:rPr lang="en-US" dirty="0"/>
              <a:t>Maximum evaporation when sufficient water is available</a:t>
            </a:r>
            <a:endParaRPr lang="ru-RU" dirty="0"/>
          </a:p>
          <a:p>
            <a:pPr lvl="1"/>
            <a:r>
              <a:rPr lang="en-GB" dirty="0"/>
              <a:t>Reference</a:t>
            </a:r>
            <a:r>
              <a:rPr lang="ru-RU" dirty="0"/>
              <a:t> (</a:t>
            </a:r>
            <a:r>
              <a:rPr lang="en-GB" dirty="0"/>
              <a:t>ET₀)</a:t>
            </a:r>
            <a:endParaRPr lang="uz-Cyrl-UZ" dirty="0"/>
          </a:p>
          <a:p>
            <a:pPr lvl="2"/>
            <a:r>
              <a:rPr lang="en-GB" dirty="0"/>
              <a:t>Evapotranspiration for 12 cm grass</a:t>
            </a:r>
            <a:endParaRPr lang="ru-RU" dirty="0"/>
          </a:p>
          <a:p>
            <a:pPr lvl="1"/>
            <a:r>
              <a:rPr lang="en-GB" dirty="0"/>
              <a:t>Crop-specific</a:t>
            </a:r>
            <a:r>
              <a:rPr lang="en-US" dirty="0"/>
              <a:t> (</a:t>
            </a:r>
            <a:r>
              <a:rPr lang="en-US" dirty="0" err="1"/>
              <a:t>ETc</a:t>
            </a:r>
            <a:r>
              <a:rPr lang="en-US" dirty="0"/>
              <a:t>)</a:t>
            </a:r>
            <a:r>
              <a:rPr lang="ru-RU" dirty="0"/>
              <a:t>:</a:t>
            </a:r>
          </a:p>
          <a:p>
            <a:pPr lvl="2"/>
            <a:r>
              <a:rPr lang="en-GB" dirty="0" err="1"/>
              <a:t>ETc</a:t>
            </a:r>
            <a:r>
              <a:rPr lang="en-GB" dirty="0"/>
              <a:t> = </a:t>
            </a:r>
            <a:r>
              <a:rPr lang="en-US" dirty="0"/>
              <a:t>Kc * </a:t>
            </a:r>
            <a:r>
              <a:rPr lang="en-GB" dirty="0"/>
              <a:t>ET₀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473D94B0-6FED-5C58-2841-6558AC3CAAD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52" y="1600206"/>
            <a:ext cx="307360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603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9A0499-82F1-7E53-0474-02C669FF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Forecasted Evapotranspiration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9AE36-7916-CE85-CED6-02ADCC5A7B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Precise irrigation scheduling</a:t>
            </a:r>
            <a:r>
              <a:rPr lang="en-GB" dirty="0"/>
              <a:t> </a:t>
            </a:r>
          </a:p>
          <a:p>
            <a:pPr lvl="1"/>
            <a:r>
              <a:rPr lang="en-US" dirty="0"/>
              <a:t>Daily ET₀ values (0.8-1.1 mm/day shown) combined with crop coefficients calculate exact water requirements, preventing over/under-watering and optimizing plant water stress management</a:t>
            </a:r>
          </a:p>
          <a:p>
            <a:r>
              <a:rPr lang="en-US" b="1" dirty="0"/>
              <a:t>Resource conservation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Accurate ET₀ measurements combined with precipitation forecasts can reduce irrigation water use by 25-30% while maintaining optimal crop growth conditions through precision water management</a:t>
            </a:r>
            <a:endParaRPr lang="en-GB" dirty="0"/>
          </a:p>
        </p:txBody>
      </p:sp>
      <p:pic>
        <p:nvPicPr>
          <p:cNvPr id="6" name="Picture 2" descr="graph">
            <a:extLst>
              <a:ext uri="{FF2B5EF4-FFF2-40B4-BE49-F238E27FC236}">
                <a16:creationId xmlns:a16="http://schemas.microsoft.com/office/drawing/2014/main" id="{25A2409C-05BF-B3CB-3529-E5FA368F755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45" y="1600200"/>
            <a:ext cx="410751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452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0506-6785-DA46-6A93-FAE0DD5F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Integrated Pest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ACF2-2C41-F1C9-3510-B59AF26386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Weather-based prediction models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Agrometeorological stations provide temperature, humidity, and precipitation data to forecast pest development cycles and optimal timing for targeted treatments</a:t>
            </a:r>
          </a:p>
          <a:p>
            <a:r>
              <a:rPr lang="en-US" b="1" dirty="0"/>
              <a:t>Reduced chemical dependency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Precision timing and targeted application based on actual pest presence reduces pesticide use by 30-80% while maintaining crop protection effectiveness</a:t>
            </a:r>
          </a:p>
          <a:p>
            <a:r>
              <a:rPr lang="en-GB" b="1" dirty="0"/>
              <a:t>Multi-modal monitoring approach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Combines automated weather data, pheromone trap monitoring and crop phenology tracking</a:t>
            </a:r>
          </a:p>
          <a:p>
            <a:r>
              <a:rPr lang="en-US" b="1" dirty="0"/>
              <a:t>Economic and environmental benefits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Prevents up to 80% of crop losses through early intervention while preserving beneficial insects, reducing chemical residues, and supporting export market requirements for pesticide-free produce</a:t>
            </a:r>
            <a:endParaRPr lang="en-GB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B422C88-FA64-3048-B477-E93C91D4A1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1600206"/>
            <a:ext cx="4372705" cy="257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 descr="Олма қуртига қарши курашиш бўйича тавсиялар | AGRO-OLAM.UZ">
            <a:extLst>
              <a:ext uri="{FF2B5EF4-FFF2-40B4-BE49-F238E27FC236}">
                <a16:creationId xmlns:a16="http://schemas.microsoft.com/office/drawing/2014/main" id="{E5CC8395-9892-8D72-D03B-AF600ECEB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4270581"/>
            <a:ext cx="2369840" cy="177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B07FCFDD-6AC3-AB91-26C0-6B4A4417E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061" y="4270581"/>
            <a:ext cx="1430700" cy="197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93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3D08DC-F6FE-C36B-F366-73DEB5DA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Pest Prediction Models</a:t>
            </a:r>
          </a:p>
        </p:txBody>
      </p:sp>
      <p:pic>
        <p:nvPicPr>
          <p:cNvPr id="4" name="Online Media 3" title="Pest Prediction Screen">
            <a:hlinkClick r:id="" action="ppaction://media"/>
            <a:extLst>
              <a:ext uri="{FF2B5EF4-FFF2-40B4-BE49-F238E27FC236}">
                <a16:creationId xmlns:a16="http://schemas.microsoft.com/office/drawing/2014/main" id="{C3AE4298-5613-9D8B-3791-B85381A1C1D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87562" y="1268760"/>
            <a:ext cx="8016875" cy="452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B7355F-D001-9FFB-C1D9-DF71A35A5FFF}"/>
              </a:ext>
            </a:extLst>
          </p:cNvPr>
          <p:cNvSpPr txBox="1"/>
          <p:nvPr/>
        </p:nvSpPr>
        <p:spPr>
          <a:xfrm>
            <a:off x="4630822" y="5794723"/>
            <a:ext cx="27978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hlinkClick r:id="rId4"/>
              </a:rPr>
              <a:t>https://youtu.be/SYSbcg0IgA8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26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8AA8-E05A-BB7B-FFA5-C3DB2F2A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E122-47A7-E04C-D715-4A175288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Plant Disease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6AA7-3D57-A0BB-56F8-DA19A2D912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Weather-based disease forecasting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Real-time monitoring of temperature, humidity, leaf wetness, and rainfall patterns enables prediction of disease-favorable conditions before symptoms appear</a:t>
            </a:r>
          </a:p>
          <a:p>
            <a:r>
              <a:rPr lang="en-US" b="1" dirty="0"/>
              <a:t>AI-powered risk assessment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Models predict the development probability of 30+ common agricultural diseases</a:t>
            </a:r>
          </a:p>
          <a:p>
            <a:r>
              <a:rPr lang="en-US" b="1" dirty="0"/>
              <a:t>Preventive intervention timing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Early warning alerts identify critical periods for fungicide application, allowing farmers to protect crops before disease establishment rather than treating existing infections</a:t>
            </a:r>
          </a:p>
          <a:p>
            <a:r>
              <a:rPr lang="en-US" b="1" dirty="0"/>
              <a:t>Cost reduction and plant protection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Prevents 60-80% of potential crop losses through early intervention while reducing fungicide costs by 25-40% via targeted applications only when disease conditions are favorable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F43D9D-5F67-45DE-C450-886434B3F25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076" y="1578750"/>
            <a:ext cx="3816424" cy="2804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 descr="Парша">
            <a:extLst>
              <a:ext uri="{FF2B5EF4-FFF2-40B4-BE49-F238E27FC236}">
                <a16:creationId xmlns:a16="http://schemas.microsoft.com/office/drawing/2014/main" id="{85C59564-A0D1-A901-0E6D-9022B3D0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4542600"/>
            <a:ext cx="1922462" cy="140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9" descr="Парша широко распространена в регионах с умеренными климатическими условиями">
            <a:extLst>
              <a:ext uri="{FF2B5EF4-FFF2-40B4-BE49-F238E27FC236}">
                <a16:creationId xmlns:a16="http://schemas.microsoft.com/office/drawing/2014/main" id="{5FAA42BB-F70B-2869-D409-19FF58C6A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304" y="4542600"/>
            <a:ext cx="2087425" cy="140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862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CA40C-0733-B7BA-DB91-38B78125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Disease Models</a:t>
            </a:r>
          </a:p>
        </p:txBody>
      </p:sp>
      <p:pic>
        <p:nvPicPr>
          <p:cNvPr id="5" name="Online Media 4" title="Plant Diseases Screen">
            <a:hlinkClick r:id="" action="ppaction://media"/>
            <a:extLst>
              <a:ext uri="{FF2B5EF4-FFF2-40B4-BE49-F238E27FC236}">
                <a16:creationId xmlns:a16="http://schemas.microsoft.com/office/drawing/2014/main" id="{663A14E9-17B2-5333-3AAB-CD0D57EE67C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87562" y="1268760"/>
            <a:ext cx="8016875" cy="452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F63600-6B8A-D56F-1B8E-3372F76E90C4}"/>
              </a:ext>
            </a:extLst>
          </p:cNvPr>
          <p:cNvSpPr txBox="1"/>
          <p:nvPr/>
        </p:nvSpPr>
        <p:spPr>
          <a:xfrm>
            <a:off x="4630822" y="5794723"/>
            <a:ext cx="27179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hlinkClick r:id="rId4"/>
              </a:rPr>
              <a:t>https://youtu.be/xIlZHK1kdCY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472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6709-C6D3-CAAE-DEE7-45D9653F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Spraying Windows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B2D69-180D-413D-3F1F-0A6B8B6F31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Optimal application timing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Green windows indicate ideal conditions with low wind speeds (&lt;10 km/h), proper temperature ranges, and no precipitation for maximum pesticide effectiveness</a:t>
            </a:r>
          </a:p>
          <a:p>
            <a:pPr lvl="1"/>
            <a:r>
              <a:rPr lang="en-US" dirty="0"/>
              <a:t>Yellow and red periods indicate upcoming rain or adverse conditions that would wash away treatments</a:t>
            </a:r>
          </a:p>
          <a:p>
            <a:r>
              <a:rPr lang="en-US" b="1" dirty="0"/>
              <a:t>Chemical efficiency maximization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Spraying during favorable conditions ensures better droplet coverage and penetration, reducing product waste by 20-30%</a:t>
            </a:r>
          </a:p>
          <a:p>
            <a:r>
              <a:rPr lang="en-US" b="1" dirty="0"/>
              <a:t>Drift prevention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Real-time wind speed monitoring helps avoid applications during high-wind periods (red zones), preventing chemical drift to non-target areas and neighboring crops</a:t>
            </a:r>
            <a:endParaRPr lang="en-GB" dirty="0"/>
          </a:p>
        </p:txBody>
      </p:sp>
      <p:pic>
        <p:nvPicPr>
          <p:cNvPr id="6" name="Picture 2" descr="graph">
            <a:extLst>
              <a:ext uri="{FF2B5EF4-FFF2-40B4-BE49-F238E27FC236}">
                <a16:creationId xmlns:a16="http://schemas.microsoft.com/office/drawing/2014/main" id="{B91F4129-4C81-2411-D30F-583305C8A61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612" y="1600200"/>
            <a:ext cx="522477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59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10D0-BF29-883B-D5B9-39839A40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Sowing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0008D-2909-E3AB-8E64-F9EDC56AE0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Crop-specific timing optimization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Color-coded windows show ideal sowing periods for each crop type (corn/sunflower, wheat, barley, rapeseed, potato, sugar beet) based on soil temperature and moisture conditions</a:t>
            </a:r>
          </a:p>
          <a:p>
            <a:pPr lvl="1"/>
            <a:r>
              <a:rPr lang="en-US" dirty="0"/>
              <a:t>Avoiding red/yellow periods prevents sowing in overly wet or cold soils that could lead to seed rot, poor emergence, or compaction damage</a:t>
            </a:r>
          </a:p>
          <a:p>
            <a:r>
              <a:rPr lang="en-US" b="1" dirty="0"/>
              <a:t>Germination success maximization</a:t>
            </a:r>
          </a:p>
          <a:p>
            <a:pPr lvl="1"/>
            <a:r>
              <a:rPr lang="en-US" dirty="0"/>
              <a:t>Green periods indicate optimal soil conditions for seed germination, reducing replanting costs</a:t>
            </a:r>
          </a:p>
          <a:p>
            <a:pPr lvl="1"/>
            <a:r>
              <a:rPr lang="en-US" dirty="0"/>
              <a:t>Proper timing based on weather forecasts can improve emergence rates by 15-25% and establish stronger plant stands that are more resilient to later stress conditions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2" descr="graph">
            <a:extLst>
              <a:ext uri="{FF2B5EF4-FFF2-40B4-BE49-F238E27FC236}">
                <a16:creationId xmlns:a16="http://schemas.microsoft.com/office/drawing/2014/main" id="{F70DF22A-C0E8-58AE-D21C-3D7C5A51218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914" y="1600200"/>
            <a:ext cx="4764171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590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66D8-CB7A-AD26-84FB-A59E6313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Soil Trafficability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A39D8-89CF-49CA-6A55-5D8EF675BC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Tillage timing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Color-coded conditions show optimal periods for heavy equipment operation on different soil types (sand, loam, silt, clay) to prevent compaction and rutting damage</a:t>
            </a:r>
          </a:p>
          <a:p>
            <a:pPr lvl="1"/>
            <a:r>
              <a:rPr lang="en-US" dirty="0"/>
              <a:t>Avoiding red/yellow periods prevents soil compaction damage that can reduce yields by 10-15% and persist for multiple growing seasons</a:t>
            </a:r>
          </a:p>
          <a:p>
            <a:r>
              <a:rPr lang="en-US" b="1" dirty="0"/>
              <a:t>Equipment protection and efficiency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Green windows indicate firm soil conditions that allow normal machinery operation without risk of getting stuck or requiring additional traction equipment</a:t>
            </a:r>
          </a:p>
          <a:p>
            <a:pPr lvl="1"/>
            <a:r>
              <a:rPr lang="en-US" dirty="0"/>
              <a:t>Proper timing eliminates costs associated with </a:t>
            </a:r>
            <a:r>
              <a:rPr lang="en-US" b="1" dirty="0"/>
              <a:t>stuck equipment</a:t>
            </a:r>
            <a:r>
              <a:rPr lang="en-US" dirty="0"/>
              <a:t>, </a:t>
            </a:r>
            <a:r>
              <a:rPr lang="en-US" b="1" dirty="0"/>
              <a:t>extra fuel consumption</a:t>
            </a:r>
            <a:r>
              <a:rPr lang="en-US" dirty="0"/>
              <a:t>, and </a:t>
            </a:r>
            <a:r>
              <a:rPr lang="en-US" b="1" dirty="0"/>
              <a:t>potential machinery</a:t>
            </a:r>
            <a:r>
              <a:rPr lang="en-US" dirty="0"/>
              <a:t> damage from operating in poor field conditions</a:t>
            </a:r>
          </a:p>
          <a:p>
            <a:pPr lvl="1"/>
            <a:endParaRPr lang="en-US" dirty="0"/>
          </a:p>
          <a:p>
            <a:pPr lvl="1"/>
            <a:endParaRPr lang="en-GB" dirty="0"/>
          </a:p>
        </p:txBody>
      </p:sp>
      <p:pic>
        <p:nvPicPr>
          <p:cNvPr id="6" name="Picture 2" descr="graph">
            <a:extLst>
              <a:ext uri="{FF2B5EF4-FFF2-40B4-BE49-F238E27FC236}">
                <a16:creationId xmlns:a16="http://schemas.microsoft.com/office/drawing/2014/main" id="{5308A4E3-58AC-93D6-414B-2D41E46AE6A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1837150"/>
            <a:ext cx="5384800" cy="405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354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B938-566A-21A6-E9B0-94C3C4C0B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Risk assessment based on 40-year historical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C749B-15CB-BF11-08B3-6D822EB51B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Extensive historical meteorological records combined with satellite data from </a:t>
            </a:r>
            <a:r>
              <a:rPr lang="en-US" dirty="0" err="1"/>
              <a:t>meteoblue</a:t>
            </a:r>
            <a:r>
              <a:rPr lang="en-US" dirty="0"/>
              <a:t> </a:t>
            </a:r>
            <a:r>
              <a:rPr lang="en-US" b="1" dirty="0"/>
              <a:t>for the last 40 years</a:t>
            </a:r>
            <a:r>
              <a:rPr lang="en-US" dirty="0"/>
              <a:t> enable:</a:t>
            </a:r>
          </a:p>
          <a:p>
            <a:pPr lvl="1"/>
            <a:r>
              <a:rPr lang="en-US" dirty="0"/>
              <a:t>long-term climate analysis, </a:t>
            </a:r>
          </a:p>
          <a:p>
            <a:pPr lvl="1"/>
            <a:r>
              <a:rPr lang="en-US" dirty="0"/>
              <a:t>seasonal pattern identification, </a:t>
            </a:r>
          </a:p>
          <a:p>
            <a:pPr lvl="1"/>
            <a:r>
              <a:rPr lang="en-US" dirty="0"/>
              <a:t>baseline establishment for agricultural planning</a:t>
            </a:r>
          </a:p>
          <a:p>
            <a:r>
              <a:rPr lang="en-US" b="1" dirty="0"/>
              <a:t>Risk-based insurance </a:t>
            </a:r>
          </a:p>
          <a:p>
            <a:pPr lvl="1"/>
            <a:r>
              <a:rPr lang="en-US" dirty="0"/>
              <a:t>Historical weather data supports crop insurance decisions and helps farmers plan risk mitigation strategies based on documented weather extremes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4557FB-C937-38DC-0F7E-F595E086D1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16661" y="1600200"/>
            <a:ext cx="3946677" cy="4525963"/>
          </a:xfrm>
        </p:spPr>
      </p:pic>
    </p:spTree>
    <p:extLst>
      <p:ext uri="{BB962C8B-B14F-4D97-AF65-F5344CB8AC3E}">
        <p14:creationId xmlns:p14="http://schemas.microsoft.com/office/powerpoint/2010/main" val="1543829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A884-72E8-C7B6-B0C7-B05D838A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summarize, weather stations can…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159AB-B561-9EC5-8818-F0DCE0703F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Estimate water consumption</a:t>
            </a:r>
            <a:r>
              <a:rPr lang="en-GB" dirty="0"/>
              <a:t> by calculating evapotranspiration</a:t>
            </a:r>
          </a:p>
          <a:p>
            <a:r>
              <a:rPr lang="en-GB" b="1" dirty="0"/>
              <a:t>Save water</a:t>
            </a:r>
            <a:r>
              <a:rPr lang="en-GB" dirty="0"/>
              <a:t> by optimized irrigation scheduling</a:t>
            </a:r>
          </a:p>
          <a:p>
            <a:r>
              <a:rPr lang="en-GB" b="1" dirty="0"/>
              <a:t>Protect plants from pests</a:t>
            </a:r>
            <a:r>
              <a:rPr lang="en-GB" dirty="0"/>
              <a:t> </a:t>
            </a:r>
            <a:r>
              <a:rPr lang="en-GB" b="1" dirty="0"/>
              <a:t>and diseases</a:t>
            </a:r>
            <a:r>
              <a:rPr lang="en-GB" dirty="0"/>
              <a:t> by modelling their development cycles</a:t>
            </a:r>
          </a:p>
          <a:p>
            <a:r>
              <a:rPr lang="en-GB" b="1" dirty="0"/>
              <a:t>Save chemicals</a:t>
            </a:r>
            <a:r>
              <a:rPr lang="en-GB" dirty="0"/>
              <a:t> by finding optimal spraying windows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6C978-FD7C-0CC7-4A7C-A7ED5820CE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Maximize seed germination </a:t>
            </a:r>
            <a:r>
              <a:rPr lang="en-GB" dirty="0"/>
              <a:t>by choosing optimal sowing window</a:t>
            </a:r>
          </a:p>
          <a:p>
            <a:r>
              <a:rPr lang="en-GB" b="1" dirty="0"/>
              <a:t>Prevent farm machinery </a:t>
            </a:r>
            <a:r>
              <a:rPr lang="en-GB" dirty="0"/>
              <a:t>from getting stuck in mud, or damaging tillers/ploughs</a:t>
            </a:r>
          </a:p>
          <a:p>
            <a:r>
              <a:rPr lang="en-GB" b="1" dirty="0"/>
              <a:t>Save fuel </a:t>
            </a:r>
            <a:r>
              <a:rPr lang="en-GB" dirty="0"/>
              <a:t>by choosing optimal conditions for tillage</a:t>
            </a:r>
          </a:p>
          <a:p>
            <a:r>
              <a:rPr lang="en-GB" b="1" dirty="0"/>
              <a:t>Assess risk </a:t>
            </a:r>
            <a:r>
              <a:rPr lang="en-GB" dirty="0"/>
              <a:t>employing the historical meteorological records of the site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60929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Questions?</a:t>
            </a:r>
            <a:endParaRPr lang="uz-Cyrl-UZ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info@amudar.io</a:t>
            </a:r>
            <a:endParaRPr lang="en-GB" dirty="0"/>
          </a:p>
          <a:p>
            <a:r>
              <a:rPr lang="en-GB" dirty="0"/>
              <a:t>+998-97-3441136</a:t>
            </a:r>
            <a:endParaRPr lang="uz-Cyrl-UZ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0C2D2C-034A-8A30-13E2-E035279FC7C2}"/>
              </a:ext>
            </a:extLst>
          </p:cNvPr>
          <p:cNvGrpSpPr/>
          <p:nvPr/>
        </p:nvGrpSpPr>
        <p:grpSpPr>
          <a:xfrm>
            <a:off x="4886820" y="332656"/>
            <a:ext cx="2418360" cy="606093"/>
            <a:chOff x="250496" y="6151309"/>
            <a:chExt cx="2418360" cy="606093"/>
          </a:xfrm>
        </p:grpSpPr>
        <p:sp>
          <p:nvSpPr>
            <p:cNvPr id="3" name="Subtitle 2">
              <a:extLst>
                <a:ext uri="{FF2B5EF4-FFF2-40B4-BE49-F238E27FC236}">
                  <a16:creationId xmlns:a16="http://schemas.microsoft.com/office/drawing/2014/main" id="{DFACA344-3424-A55C-2E7C-B397AA3F047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0496" y="6475859"/>
              <a:ext cx="2418360" cy="28154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“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Amudario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 Research” LLC</a:t>
              </a:r>
              <a:endParaRPr lang="ru-RU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4" name="Picture 2" descr="Logo">
              <a:extLst>
                <a:ext uri="{FF2B5EF4-FFF2-40B4-BE49-F238E27FC236}">
                  <a16:creationId xmlns:a16="http://schemas.microsoft.com/office/drawing/2014/main" id="{93582B25-56E3-D45A-DA17-8D823470EA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" y="6151309"/>
              <a:ext cx="1928753" cy="324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799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20023</TotalTime>
  <Words>1959</Words>
  <Application>Microsoft Office PowerPoint</Application>
  <PresentationFormat>Widescreen</PresentationFormat>
  <Paragraphs>233</Paragraphs>
  <Slides>33</Slides>
  <Notes>1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Microsoft YaHei UI</vt:lpstr>
      <vt:lpstr>Arial</vt:lpstr>
      <vt:lpstr>Calibri</vt:lpstr>
      <vt:lpstr>Office Theme</vt:lpstr>
      <vt:lpstr>Overview of Amudar.IO Projects</vt:lpstr>
      <vt:lpstr>Agenda</vt:lpstr>
      <vt:lpstr>What is Amudar.IO?</vt:lpstr>
      <vt:lpstr>110+ weather stations across Uzbekistan</vt:lpstr>
      <vt:lpstr>15+ successful joint projects</vt:lpstr>
      <vt:lpstr>Designed and serviced in Uzbekistan</vt:lpstr>
      <vt:lpstr>Winner of CGIAR’s AgriTech4Uzb</vt:lpstr>
      <vt:lpstr>10 air quality monitoring stations  on Air Tashkent Portal </vt:lpstr>
      <vt:lpstr>AirSense – air quality monitoring station</vt:lpstr>
      <vt:lpstr>Coal-burning greenhouses  are major air pollutants around Tashkent</vt:lpstr>
      <vt:lpstr>GozanLink – greenhouse monitoring system </vt:lpstr>
      <vt:lpstr>Use of weather stations in agriculture</vt:lpstr>
      <vt:lpstr>Key Issues of Agriculture in Uzbekistan</vt:lpstr>
      <vt:lpstr>Why weather stations?</vt:lpstr>
      <vt:lpstr>Economic benefits of weather stations</vt:lpstr>
      <vt:lpstr>Oxus-WS Weather Station</vt:lpstr>
      <vt:lpstr>Key Features of Oxus-WS</vt:lpstr>
      <vt:lpstr>Glimpse into main dashboard</vt:lpstr>
      <vt:lpstr>Professional agronomic forecast</vt:lpstr>
      <vt:lpstr>Irrigation Scheduling</vt:lpstr>
      <vt:lpstr>Irrigation scheduling calendar</vt:lpstr>
      <vt:lpstr>Daily Evapotranspiration</vt:lpstr>
      <vt:lpstr>Forecasted Evapotranspiration</vt:lpstr>
      <vt:lpstr>Integrated Pest Management</vt:lpstr>
      <vt:lpstr>Pest Prediction Models</vt:lpstr>
      <vt:lpstr>Plant Disease Management</vt:lpstr>
      <vt:lpstr>Plant Disease Models</vt:lpstr>
      <vt:lpstr>Spraying Windows</vt:lpstr>
      <vt:lpstr>Sowing Windows</vt:lpstr>
      <vt:lpstr>Soil Trafficability</vt:lpstr>
      <vt:lpstr>Risk assessment based on 40-year historical data</vt:lpstr>
      <vt:lpstr>To summarize, weather stations can…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Агрометеорологик станциялар дастурий таъминоти ва унинг ишлаш принциплари</dc:title>
  <dc:creator>Sarvar Abdullaev</dc:creator>
  <cp:lastModifiedBy>Sarvar Abdullaev</cp:lastModifiedBy>
  <cp:revision>305</cp:revision>
  <cp:lastPrinted>2024-11-25T00:13:07Z</cp:lastPrinted>
  <dcterms:created xsi:type="dcterms:W3CDTF">2020-12-07T07:34:51Z</dcterms:created>
  <dcterms:modified xsi:type="dcterms:W3CDTF">2025-12-24T15:31:57Z</dcterms:modified>
</cp:coreProperties>
</file>